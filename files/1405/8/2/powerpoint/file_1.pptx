
<file path=[Content_Types].xml><?xml version="1.0" encoding="utf-8"?>
<Types xmlns="http://schemas.openxmlformats.org/package/2006/content-types">
  <Default Extension="fntdata" ContentType="application/x-fontdata"/>
  <Default Extension="jpeg" ContentType="image/jpeg"/>
  <Default Extension="mp3" ContentType="audio/m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IRDavat" panose="02000503000000020002" pitchFamily="2" charset="-78"/>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D6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p:scale>
          <a:sx n="68" d="100"/>
          <a:sy n="68" d="100"/>
        </p:scale>
        <p:origin x="682"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09.583"/>
    </inkml:context>
    <inkml:brush xml:id="br0">
      <inkml:brushProperty name="width" value="0.1" units="cm"/>
      <inkml:brushProperty name="height" value="0.1" units="cm"/>
      <inkml:brushProperty name="color" value="#1C1C1C"/>
    </inkml:brush>
  </inkml:definitions>
  <inkml:trace contextRef="#ctx0" brushRef="#br0">87 0 24575,'-2'0'0,"-1"1"0,1-1 0,0 1 0,0-1 0,-1 1 0,1 0 0,0 0 0,0 0 0,0 0 0,0 0 0,0 0 0,0 1 0,0-1 0,0 1 0,0-1 0,1 1 0,-1 0 0,1-1 0,-1 1 0,1 0 0,-1 0 0,1 0 0,0 0 0,0 1 0,0-1 0,-1 4 0,-2 7 0,0 1 0,1 0 0,-2 18 0,2-15 0,-7 81 0,4 172 0,7-205 0,-2-126 0,-1 36 0,1-1 0,2 1 0,1 0 0,0 0 0,2 0 0,7-26 0,1 13-341,-2-1 0,-1 0-1,5-70 1,-12 86-6485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23.372"/>
    </inkml:context>
    <inkml:brush xml:id="br0">
      <inkml:brushProperty name="width" value="0.35" units="cm"/>
      <inkml:brushProperty name="height" value="0.35" units="cm"/>
    </inkml:brush>
  </inkml:definitions>
  <inkml:trace contextRef="#ctx0" brushRef="#br0">615 1233 24575,'2'0'0,"0"0"0,-1-1 0,0 1 0,0 0 0,0 0 0,1 0 0,-1 0 0,0 0 0,0 0 0,0 0 0,1 0 0,-1 0 0,0 0 0,0 1 0,0-1 0,0 0 0,0 1 0,1-1 0,-1 1 0,0 0 0,0-1 0,0 1 0,0 0 0,-1-1 0,1 1 0,0 0 0,0 0 0,0 0 0,0 0 0,-1 0 0,1 0 0,-1 0 0,1 0 0,0 0 0,-1 0 0,0 0 0,1 0 0,-1 1 0,0-1 0,1 0 0,-1 0 0,0 0 0,0 1 0,0-1 0,0 2 0,5 45 0,-2 0 0,-4 70 0,-1-40 0,0 100 0,3 211 0,-1-385 0,1 1 0,-1-1 0,1 0 0,0 0 0,0 0 0,3 8 0,-4-12 0,0 1 0,0-1 0,0 0 0,1 1 0,-1-1 0,0 0 0,0 1 0,1-1 0,-1 0 0,0 1 0,1-1 0,-1 0 0,0 0 0,1 1 0,-1-1 0,0 0 0,1 0 0,-1 0 0,1 1 0,-1-1 0,0 0 0,1 0 0,-1 0 0,1 0 0,-1 0 0,1 0 0,0 0 0,0 0 0,0-1 0,0 1 0,0-1 0,0 0 0,1 1 0,-1-1 0,0 0 0,0 0 0,0 1 0,0-1 0,-1 0 0,1 0 0,0 0 0,1-2 0,11-18 0,0-1 0,-2 0 0,0 0 0,12-39 0,-2 5 0,49-130 0,-7-3 0,38-207 0,-81 268 0,6-174 0,-26 290 0,18-125 0,-11 93 0,4-84 0,-14 46 0,1 47 0,1 0 0,1-1 0,2 1 0,2 0 0,8-34 0,-8 59 0,0 0 0,0 0 0,1 1 0,0-1 0,1 1 0,0 0 0,0 1 0,13-13 0,-19 21 0,0 0 0,0 0 0,0-1 0,1 1 0,-1 0 0,0 0 0,0 0 0,0 0 0,0 0 0,0-1 0,1 1 0,-1 0 0,0 0 0,0 0 0,0 0 0,1 0 0,-1 0 0,0 0 0,0 0 0,1 0 0,-1 0 0,0-1 0,0 1 0,0 0 0,1 0 0,-1 0 0,0 1 0,0-1 0,1 0 0,-1 0 0,0 0 0,0 0 0,0 0 0,1 0 0,-1 0 0,0 0 0,0 0 0,0 0 0,1 1 0,-1-1 0,4 11 0,-2 19 0,-2-28 0,-1 10 0,0-1 0,-1 1 0,0 0 0,-1-1 0,0 1 0,-8 16 0,1-5 0,-1 0 0,-15 23 0,5-18 0,-1-1 0,-1-1 0,-53 45 0,52-52 0,-1-2 0,-1-1 0,-1-1 0,-50 22 0,28-15 0,30-10 0,0 0 0,1 1 0,0 1 0,2 1 0,-1 0 0,-15 21 0,-20 16 0,1 1 0,-86 114 0,57-64 0,63-84 0,-32 28 0,32-32 0,0 1 0,-18 23 0,30-33 0,0 1 0,0-1 0,-1 0 0,0 0 0,0-1 0,0 1 0,-1-1 0,1-1 0,-1 1 0,0-1 0,-15 6 0,18-8 0,1-1 0,-1 1 0,0 1 0,1-1 0,-1 1 0,1-1 0,0 1 0,-1 0 0,1 0 0,1 0 0,-1 1 0,0-1 0,1 1 0,0-1 0,0 1 0,0 0 0,0 0 0,1 0 0,-1 0 0,1 0 0,0 0 0,0 0 0,0 8 0,0-1 0,0-1 0,0 1 0,2-1 0,-1 1 0,1-1 0,1 0 0,0 1 0,6 18 0,-7-26 0,1 1 0,0 0 0,0-1 0,0 0 0,1 1 0,-1-1 0,1 0 0,0 0 0,0 0 0,0-1 0,0 1 0,0-1 0,0 1 0,7 2 0,6 2 0,0 0 0,21 6 0,-24-9 0,0 0 0,0 1 0,16 9 0,86 58 0,-60-40 0,-38-23 0,0 0 0,27 22 0,45 36 0,-59-46 0,-1 2 0,0 0 0,31 35 0,-53-51 0,-1 1 0,0-1 0,0 1 0,-1 0 0,0 0 0,0 1 0,-1-1 0,0 1 0,-1 0 0,0 0 0,0 0 0,-1 1 0,2 14 0,-1-2 0,2 0 0,0 0 0,1-1 0,1 0 0,0 0 0,2 0 0,1-1 0,0-1 0,22 31 0,154 186 0,-172-215 0,15 31 0,10 16 0,-38-67 0,0 0 0,0 1 0,-1-1 0,1 0 0,0 0 0,0 0 0,0 0 0,0 0 0,0 0 0,1 0 0,-1 0 0,0 0 0,0-1 0,1 1 0,-1 0 0,0-1 0,1 1 0,2 0 0,-3-1 0,0 0 0,-1-1 0,1 1 0,0 0 0,0 0 0,0-1 0,0 1 0,0-1 0,-1 1 0,1-1 0,0 1 0,0-1 0,0 1 0,-1-1 0,1 0 0,-1 1 0,1-1 0,0 0 0,-1 1 0,1-1 0,0-1 0,2-4 0,-1 1 0,0-1 0,0 0 0,0 0 0,0 0 0,-1 1 0,1-11 0,-1-243 0,-3 122 0,2-880 0,0 1013 0,0-1 0,0 0 0,0 0 0,-1 0 0,1 0 0,-1 0 0,0 0 0,-1 1 0,1-1 0,-1 0 0,0 1 0,0-1 0,0 1 0,-1 0 0,0 0 0,1 0 0,-1 0 0,-1 0 0,1 1 0,-1-1 0,1 1 0,-1 0 0,0 0 0,0 0 0,0 1 0,-1-1 0,1 1 0,0 0 0,-10-3 0,-87-33 0,80 29 0,0 2 0,0 0 0,-1 2 0,0 0 0,-25-2 0,-114 0 0,87 6 0,27 0 0,-70 6 0,113-5 0,0 1 0,0 0 0,0 0 0,0 0 0,0 0 0,0 1 0,0-1 0,0 1 0,1 0 0,-1 0 0,1 1 0,-1-1 0,1 1 0,0-1 0,0 1 0,0 0 0,0 0 0,1 1 0,-1-1 0,1 0 0,0 1 0,0 0 0,0-1 0,0 1 0,1 0 0,0 0 0,-1 0 0,0 7 0,-1 10 0,1 0 0,1 0 0,1 0 0,4 34 0,0-3 0,-6 34 0,1-45 0,6 71 0,1-89-1365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33.622"/>
    </inkml:context>
    <inkml:brush xml:id="br0">
      <inkml:brushProperty name="width" value="0.35" units="cm"/>
      <inkml:brushProperty name="height" value="0.35" units="cm"/>
    </inkml:brush>
  </inkml:definitions>
  <inkml:trace contextRef="#ctx0" brushRef="#br0">0 0 24575,'7'4'0,"3"4"0,3 1 0,-1 3 0,-2 6 0,-3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33.885"/>
    </inkml:context>
    <inkml:brush xml:id="br0">
      <inkml:brushProperty name="width" value="0.35" units="cm"/>
      <inkml:brushProperty name="height" value="0.35" units="cm"/>
    </inkml:brush>
  </inkml:definitions>
  <inkml:trace contextRef="#ctx0" brushRef="#br0">0 0 24575,'7'0'0,"6"0"0,5 0 0,6 0 0,2 0 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35.492"/>
    </inkml:context>
    <inkml:brush xml:id="br0">
      <inkml:brushProperty name="width" value="0.35" units="cm"/>
      <inkml:brushProperty name="height" value="0.35" units="cm"/>
    </inkml:brush>
  </inkml:definitions>
  <inkml:trace contextRef="#ctx0" brushRef="#br0">1 0 24575,'1590'0'-1365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41.704"/>
    </inkml:context>
    <inkml:brush xml:id="br0">
      <inkml:brushProperty name="width" value="0.35" units="cm"/>
      <inkml:brushProperty name="height" value="0.35" units="cm"/>
    </inkml:brush>
  </inkml:definitions>
  <inkml:trace contextRef="#ctx0" brushRef="#br0">1 0 24575,'11'3'0,"-1"-1"0,1 1 0,0 1 0,-1 0 0,0 0 0,0 1 0,0 1 0,15 10 0,112 93 0,-114-89 0,-1-2 0,-1 1 0,28 33 0,-33-34-1365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44"/>
    </inkml:context>
    <inkml:brush xml:id="br0">
      <inkml:brushProperty name="width" value="0.35" units="cm"/>
      <inkml:brushProperty name="height" value="0.35" units="cm"/>
    </inkml:brush>
  </inkml:definitions>
  <inkml:trace contextRef="#ctx0" brushRef="#br0">1 1 24575,'1'6'0,"0"1"0,0-1 0,1 0 0,0 0 0,1 1 0,-1-1 0,1 0 0,0-1 0,1 1 0,-1-1 0,8 9 0,13 25 0,-16-26 0,0 0 0,13 17 0,-15-24 0,0 1 0,-1 0 0,-1 0 0,1 0 0,-1 1 0,0-1 0,-1 1 0,1 0 0,-2 0 0,1 1 0,1 9 0,-4-12 0,1 0 0,0 0 0,1 0 0,-1 0 0,1 0 0,1 0 0,-1 0 0,1-1 0,0 1 0,5 7 0,-1-5 0,0 0 0,0-1 0,1 0 0,-1-1 0,14 9 0,-14-10 38,-1 1-1,-1-1 1,1 1-1,-1 0 1,0 0-1,-1 1 1,1-1-1,5 13 1,24 61-1288,-30-70 797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46.034"/>
    </inkml:context>
    <inkml:brush xml:id="br0">
      <inkml:brushProperty name="width" value="0.35" units="cm"/>
      <inkml:brushProperty name="height" value="0.35" units="cm"/>
    </inkml:brush>
  </inkml:definitions>
  <inkml:trace contextRef="#ctx0" brushRef="#br0">4 0 24575,'-2'64'0,"1"-28"0,5 64 0,-2-88 0,1 1 0,1-1 0,6 16 0,-5-16 0,-1 1 0,5 22 0,-4 13 29,-2 0-1,-5 68 1,0-35-1480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48.115"/>
    </inkml:context>
    <inkml:brush xml:id="br0">
      <inkml:brushProperty name="width" value="0.35" units="cm"/>
      <inkml:brushProperty name="height" value="0.35" units="cm"/>
    </inkml:brush>
  </inkml:definitions>
  <inkml:trace contextRef="#ctx0" brushRef="#br0">307 1 24575,'-1'8'0,"-1"0"0,-1 1 0,1-1 0,-1-1 0,-1 1 0,1 0 0,-1-1 0,-1 0 0,1 0 0,-7 7 0,-4 9 0,7-9 0,-12 18 0,0 0 0,-32 36 0,45-59 0,0 0 0,1 1 0,0 0 0,0 1 0,1-1 0,-6 21 0,4-9 0,1 0 0,-5 36 0,7 1 0,4-46 0,-1 1 0,0 0 0,-1-1 0,0 1 0,-1-1 0,0 0 0,-1 0 0,-1 0 0,-8 15 0,1-7 209,6-12-603,0 1 1,0 0-1,-4 13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4T15:51:51.286"/>
    </inkml:context>
    <inkml:brush xml:id="br0">
      <inkml:brushProperty name="width" value="0.35" units="cm"/>
      <inkml:brushProperty name="height" value="0.35" units="cm"/>
    </inkml:brush>
  </inkml:definitions>
  <inkml:trace contextRef="#ctx0" brushRef="#br0">1864 1 24575,'-10'-1'0,"1"1"0,-1 1 0,0 0 0,1 1 0,-1-1 0,1 2 0,0-1 0,0 1 0,-1 1 0,2 0 0,-1 0 0,0 1 0,1 0 0,0 0 0,0 1 0,1 0 0,-1 0 0,1 1 0,1 0 0,-1 0 0,-9 15 0,-16 15 0,-2-2 0,-67 55 0,96-86 0,-1 0 0,1 0 0,-1-1 0,0 0 0,0 0 0,-1 0 0,1-1 0,-1 0 0,1 0 0,-13 2 0,-5-2 0,-43-1 0,45-2 0,1 1 0,-26 4 0,28 0 0,0 1 0,1 1 0,0 0 0,0 1 0,0 1 0,-24 15 0,-32 10 0,59-27 0,-1 0 0,1 1 0,0 0 0,1 1 0,0 1 0,-19 15 0,26-19 0,1 0 0,-1 0 0,-1-1 0,1 0 0,0 0 0,-1 0 0,0-1 0,0-1 0,0 1 0,0-1 0,0 0 0,-14 0 0,-11 0 0,-63-4 0,43 0 0,-546 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587F06-E627-410A-9BC0-B3E6F0FC1A6D}" type="datetimeFigureOut">
              <a:rPr lang="en-US" smtClean="0"/>
              <a:t>10/24/2026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935F4-4187-41F1-8C9E-ADD6D5E4936F}" type="slidenum">
              <a:rPr lang="en-US" smtClean="0"/>
              <a:t>‹#›</a:t>
            </a:fld>
            <a:endParaRPr lang="en-US"/>
          </a:p>
        </p:txBody>
      </p:sp>
    </p:spTree>
    <p:extLst>
      <p:ext uri="{BB962C8B-B14F-4D97-AF65-F5344CB8AC3E}">
        <p14:creationId xmlns:p14="http://schemas.microsoft.com/office/powerpoint/2010/main" val="2531793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daneshchi.ir/%d8%aa%d8%ad%d9%82%db%8c%d9%82-%d8%af%d8%b1-%d9%85%d9%88%d8%b1%d8%af-%d9%82%d8%a7%d9%84%d8%a8-%d8%b4%d8%b9%d8%b1%db%8c-%d9%85%d8%ab%d9%86%d9%88%db%8c/"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daneshchi.ir/%d9%85%db%8c%d8%b1%d8%a7%d8%ab-%d9%81%d8%b1%d9%87%d9%86%da%af%db%8c-%d9%87%d9%86%d8%b1%db%8c-%d8%b3%d9%84%d8%ac%d9%88%d9%82%db%8c%d8%a7%d9%86/"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زندگی نامه‌ سعدی شیرازی</a:t>
            </a:r>
            <a:endParaRPr lang="fa-IR" sz="1200" b="0" i="0" kern="1200" dirty="0">
              <a:solidFill>
                <a:schemeClr val="tx1"/>
              </a:solidFill>
              <a:effectLst/>
              <a:latin typeface="+mn-lt"/>
              <a:ea typeface="+mn-ea"/>
              <a:cs typeface="+mn-cs"/>
            </a:endParaRPr>
          </a:p>
          <a:p>
            <a:r>
              <a:rPr lang="fa-IR" sz="1200" b="0" i="0" kern="1200" dirty="0">
                <a:solidFill>
                  <a:schemeClr val="tx1"/>
                </a:solidFill>
                <a:effectLst/>
                <a:latin typeface="+mn-lt"/>
                <a:ea typeface="+mn-ea"/>
                <a:cs typeface="+mn-cs"/>
              </a:rPr>
              <a:t>آوازهٔ </a:t>
            </a:r>
            <a:r>
              <a:rPr lang="fa-IR" sz="1200" b="1" i="0" kern="1200" dirty="0">
                <a:solidFill>
                  <a:schemeClr val="tx1"/>
                </a:solidFill>
                <a:effectLst/>
                <a:latin typeface="+mn-lt"/>
                <a:ea typeface="+mn-ea"/>
                <a:cs typeface="+mn-cs"/>
              </a:rPr>
              <a:t>سعدی</a:t>
            </a:r>
            <a:r>
              <a:rPr lang="fa-IR" sz="1200" b="0" i="0" kern="1200" dirty="0">
                <a:solidFill>
                  <a:schemeClr val="tx1"/>
                </a:solidFill>
                <a:effectLst/>
                <a:latin typeface="+mn-lt"/>
                <a:ea typeface="+mn-ea"/>
                <a:cs typeface="+mn-cs"/>
              </a:rPr>
              <a:t> بیشتر به‌خاطر نظم و نثر آهنگین، گیرا و قوی اوست. جایگاهش نزد اهل ادب تا بدان‌جاست که به وی لقب استادِ سخن، پادشاهِ سخن، شیخِ اجلّ و حتی به‌طور مطلق، استاد داده‌اند. آثار معروفش کتاب گلستان به نثر و </a:t>
            </a:r>
            <a:r>
              <a:rPr lang="fa-IR" sz="1200" b="0" i="1" u="none" strike="noStrike" kern="1200" dirty="0">
                <a:solidFill>
                  <a:schemeClr val="tx1"/>
                </a:solidFill>
                <a:effectLst/>
                <a:latin typeface="+mn-lt"/>
                <a:ea typeface="+mn-ea"/>
                <a:cs typeface="+mn-cs"/>
                <a:hlinkClick r:id="rId3"/>
              </a:rPr>
              <a:t>مثنوی</a:t>
            </a:r>
            <a:r>
              <a:rPr lang="fa-IR" sz="1200" b="0" i="0" kern="1200" dirty="0">
                <a:solidFill>
                  <a:schemeClr val="tx1"/>
                </a:solidFill>
                <a:effectLst/>
                <a:latin typeface="+mn-lt"/>
                <a:ea typeface="+mn-ea"/>
                <a:cs typeface="+mn-cs"/>
              </a:rPr>
              <a:t> بوستان در بحر متقارب (وزنِ شاهنامهٔ فردوسی) و نیز غزلیات و دیوان اشعار اوست که به مجموع آثار او کلیات سعدی می‌گویند.</a:t>
            </a:r>
          </a:p>
          <a:p>
            <a:pPr rtl="1"/>
            <a:r>
              <a:rPr lang="fa-IR" sz="1200" b="0" i="0" kern="1200" dirty="0">
                <a:solidFill>
                  <a:schemeClr val="tx1"/>
                </a:solidFill>
                <a:effectLst/>
                <a:latin typeface="+mn-lt"/>
                <a:ea typeface="+mn-ea"/>
                <a:cs typeface="+mn-cs"/>
              </a:rPr>
              <a:t>در آن زمان در شیراز اتابکان فرمان میراندند. به مرور که قدرت </a:t>
            </a:r>
            <a:r>
              <a:rPr lang="fa-IR" sz="1200" b="0" i="1" u="none" strike="noStrike" kern="1200" dirty="0">
                <a:solidFill>
                  <a:schemeClr val="tx1"/>
                </a:solidFill>
                <a:effectLst/>
                <a:latin typeface="+mn-lt"/>
                <a:ea typeface="+mn-ea"/>
                <a:cs typeface="+mn-cs"/>
                <a:hlinkClick r:id="rId4"/>
              </a:rPr>
              <a:t>سلجوقیان</a:t>
            </a:r>
            <a:r>
              <a:rPr lang="fa-IR" sz="1200" b="0" i="0" kern="1200" dirty="0">
                <a:solidFill>
                  <a:schemeClr val="tx1"/>
                </a:solidFill>
                <a:effectLst/>
                <a:latin typeface="+mn-lt"/>
                <a:ea typeface="+mn-ea"/>
                <a:cs typeface="+mn-cs"/>
              </a:rPr>
              <a:t> کاهش یافت سلسله های محلی به وجود میامدند و نیرو میگرفتند اتابکان نه تنها در شیراز بلکه در دمشق، موصل، بین النهرین، حلب و آذربایجان دستی داشتند این حکومت های کوچک که اهمیت آنها از یک شهرستان تا یک سلطان نشین تغییر میکرد نسبت به یک پادشاه ابراز اطاعت میکردند ولی در عمل مستقل بودند.</a:t>
            </a:r>
          </a:p>
          <a:p>
            <a:pPr rtl="1"/>
            <a:r>
              <a:rPr lang="fa-IR" sz="1200" b="0" i="0" kern="1200" dirty="0">
                <a:solidFill>
                  <a:schemeClr val="tx1"/>
                </a:solidFill>
                <a:effectLst/>
                <a:latin typeface="+mn-lt"/>
                <a:ea typeface="+mn-ea"/>
                <a:cs typeface="+mn-cs"/>
              </a:rPr>
              <a:t>هنگام تولد سعدی حکمران شیراز اتابک مظفر الدین تکله سومین پادشاه از اتابکان فارس بود از ده سال پیش تکله در مقابل اتبکان عراق بدشواری مقاومت میکرد و همچنین مورد دستبرد و غارت اتابکان آذربایجان نیز قرار میگرفت.</a:t>
            </a:r>
          </a:p>
          <a:p>
            <a:r>
              <a:rPr lang="fa-IR" sz="1200" b="0" i="0" kern="1200" dirty="0">
                <a:solidFill>
                  <a:schemeClr val="tx1"/>
                </a:solidFill>
                <a:effectLst/>
                <a:latin typeface="+mn-lt"/>
                <a:ea typeface="+mn-ea"/>
                <a:cs typeface="+mn-cs"/>
              </a:rPr>
              <a:t>شاعر پر آوازه در میان همه این بی نظمی ها در شهر شیراز رشد و زندگی میکرد پدر سعدی، عبدالله در خدمت سعد بن زنگی بود که احتمال دارد شاعر شیرین سخن شیراز نیز به عنوان حق شناسی تخلص سعدی را برای خود انتخاب کرده است.</a:t>
            </a:r>
          </a:p>
          <a:p>
            <a:r>
              <a:rPr lang="fa-IR" sz="1200" b="0" i="0" kern="1200" dirty="0">
                <a:solidFill>
                  <a:schemeClr val="tx1"/>
                </a:solidFill>
                <a:effectLst/>
                <a:latin typeface="+mn-lt"/>
                <a:ea typeface="+mn-ea"/>
                <a:cs typeface="+mn-cs"/>
              </a:rPr>
              <a:t>یکی از مشخصات نبوغ سعدی در این است که از کوچکترین حادثه زندگی خود درسی اخلاقی میدهد در چندین جای کلیات کودکی او مطرح است و چنین مینماید که وی از دوران طفولیت خود خاطره ای دلنشین و در عین حال حزن انگیز دارد چگونگی سالهای خردسالیش در بوستان آمده که از آنجا میتوان فهمید پدرش از کارکنان ساده دیوان اما در رفاه بوده است.</a:t>
            </a:r>
          </a:p>
          <a:p>
            <a:r>
              <a:rPr lang="fa-IR" sz="1200" b="0" i="0" kern="1200" dirty="0">
                <a:solidFill>
                  <a:schemeClr val="tx1"/>
                </a:solidFill>
                <a:effectLst/>
                <a:latin typeface="+mn-lt"/>
                <a:ea typeface="+mn-ea"/>
                <a:cs typeface="+mn-cs"/>
              </a:rPr>
              <a:t>ز عهد پدر یاد دارم همی که باران رحمت بر او هر دمی</a:t>
            </a:r>
          </a:p>
          <a:p>
            <a:r>
              <a:rPr lang="fa-IR" sz="1200" b="0" i="0" kern="1200" dirty="0">
                <a:solidFill>
                  <a:schemeClr val="tx1"/>
                </a:solidFill>
                <a:effectLst/>
                <a:latin typeface="+mn-lt"/>
                <a:ea typeface="+mn-ea"/>
                <a:cs typeface="+mn-cs"/>
              </a:rPr>
              <a:t>که طفلیم لوح و دفتر خرید ز بهر یکی خاتم زر خرید</a:t>
            </a:r>
          </a:p>
          <a:p>
            <a:r>
              <a:rPr lang="fa-IR" sz="1200" b="0" i="0" kern="1200" dirty="0">
                <a:solidFill>
                  <a:schemeClr val="tx1"/>
                </a:solidFill>
                <a:effectLst/>
                <a:latin typeface="+mn-lt"/>
                <a:ea typeface="+mn-ea"/>
                <a:cs typeface="+mn-cs"/>
              </a:rPr>
              <a:t>بدر کرد ناگه یکی مشتری به خرمایی و از دستم انگشتری</a:t>
            </a:r>
          </a:p>
          <a:p>
            <a:r>
              <a:rPr lang="fa-IR" sz="1200" b="0" i="0" kern="1200" dirty="0">
                <a:solidFill>
                  <a:schemeClr val="tx1"/>
                </a:solidFill>
                <a:effectLst/>
                <a:latin typeface="+mn-lt"/>
                <a:ea typeface="+mn-ea"/>
                <a:cs typeface="+mn-cs"/>
              </a:rPr>
              <a:t>بعد از مرگ پدر سعدی در شیراز تنها ماند در سایه توجه اتابک سعدی که در از همان دورانبر اثر هوش و ذکاوت بالای خود نزد همه انگشت نما بود رهسپار بغداد گشت و وارد مدرسه نظام شد و از سال 574 تا 604 یعنی تا سال فوت اتابک سعد بن زنگی و بر تخت نشستن فرزندش ابوبکردر بغداد ماند.</a:t>
            </a:r>
          </a:p>
          <a:p>
            <a:r>
              <a:rPr lang="fa-IR" sz="1200" b="0" i="0" kern="1200" dirty="0">
                <a:solidFill>
                  <a:schemeClr val="tx1"/>
                </a:solidFill>
                <a:effectLst/>
                <a:latin typeface="+mn-lt"/>
                <a:ea typeface="+mn-ea"/>
                <a:cs typeface="+mn-cs"/>
              </a:rPr>
              <a:t>هنگامی که سعدی برای تحصیل به نظامیه رفت، مدرسه از گذشته ای پر اتخار بر خوردار بود. تا زمان سعدی متعدد نظامیه کتبی در مورد الهیات، فقه، تفسیر قرآن تالیف کرده بودند که نشان دهنده بزرگی و اعتبار مدرسه در آن زمان می باشد.</a:t>
            </a:r>
          </a:p>
          <a:p>
            <a:endParaRPr lang="en-US" dirty="0"/>
          </a:p>
        </p:txBody>
      </p:sp>
      <p:sp>
        <p:nvSpPr>
          <p:cNvPr id="4" name="Slide Number Placeholder 3"/>
          <p:cNvSpPr>
            <a:spLocks noGrp="1"/>
          </p:cNvSpPr>
          <p:nvPr>
            <p:ph type="sldNum" sz="quarter" idx="5"/>
          </p:nvPr>
        </p:nvSpPr>
        <p:spPr/>
        <p:txBody>
          <a:bodyPr/>
          <a:lstStyle/>
          <a:p>
            <a:fld id="{9F4935F4-4187-41F1-8C9E-ADD6D5E4936F}" type="slidenum">
              <a:rPr lang="en-US" smtClean="0"/>
              <a:t>2</a:t>
            </a:fld>
            <a:endParaRPr lang="en-US"/>
          </a:p>
        </p:txBody>
      </p:sp>
    </p:spTree>
    <p:extLst>
      <p:ext uri="{BB962C8B-B14F-4D97-AF65-F5344CB8AC3E}">
        <p14:creationId xmlns:p14="http://schemas.microsoft.com/office/powerpoint/2010/main" val="2624234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C006A-5352-FF72-3994-9555A639D7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94CE18-4650-6C19-02C2-A7261A85A0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C0E942-5DCF-3A7F-6D8C-836EDA97ACF0}"/>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F925ADB4-C805-A850-BC02-BA5A692CF5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2CE3D6-718C-B617-AB64-D6DE66A17EFF}"/>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1269497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1F68A-ED1E-7BF9-C83D-CD6236B24D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F9B6A7-0185-9EAD-ECB6-AFEE0E3E10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4CBF4-A1CD-6DD3-F592-AB884298D562}"/>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FB6C9C3A-9708-36D4-7828-E5993B6D9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9FAB2A-74CF-9B3F-609D-9E841FE10DD8}"/>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2290359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F2F5-7F0D-C337-CA49-D3A89D4964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81556-9915-F443-4D20-1E54CA3A4A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FA9B3F-C9C9-D5EF-0098-509AD49FD868}"/>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8EA0C3F5-4611-4206-3DDD-4ECCE54855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6FCA0-D81F-1AB6-295A-1A4BB1C811C2}"/>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1875893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1B0CB-69FC-3EF2-851B-62D2ABF9B9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3845E-B2FE-5891-D2CB-206D5A7C3A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42577A-67FE-AFD4-3106-2C14C97804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C46BE8-CC2A-173C-DB3D-FCEF35F6FB97}"/>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6" name="Footer Placeholder 5">
            <a:extLst>
              <a:ext uri="{FF2B5EF4-FFF2-40B4-BE49-F238E27FC236}">
                <a16:creationId xmlns:a16="http://schemas.microsoft.com/office/drawing/2014/main" id="{0ABD5924-BC0D-2CCA-9758-42738C0D66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6A38F4-0244-367F-32EA-0A9185E29E6F}"/>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222532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6018-6B9F-CB5B-F48F-3F3BCDFD1B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9D08BB-ABD8-5821-464C-290D81B86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6F67B9-58FF-2FFF-F62D-98FDC73C1B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F303ED-AC14-09F8-BC37-CF48A38BA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B493B-AD72-7318-9C57-5E1B4EA812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C4594A-E892-3E0E-E9EB-A5CF85D79767}"/>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8" name="Footer Placeholder 7">
            <a:extLst>
              <a:ext uri="{FF2B5EF4-FFF2-40B4-BE49-F238E27FC236}">
                <a16:creationId xmlns:a16="http://schemas.microsoft.com/office/drawing/2014/main" id="{AC7E4A0C-2920-C18B-766D-F8438F3C89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48F4E3-1C73-A325-783D-102A1E6190A2}"/>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2988314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5F590-57A4-49DE-D3E9-C357EEA7CF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049081-428A-5ECE-B196-D417FA0AED8D}"/>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4" name="Footer Placeholder 3">
            <a:extLst>
              <a:ext uri="{FF2B5EF4-FFF2-40B4-BE49-F238E27FC236}">
                <a16:creationId xmlns:a16="http://schemas.microsoft.com/office/drawing/2014/main" id="{6FB2B1B7-DD50-6674-495F-0553EA760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3B52FE-034A-1495-CE70-5B063FD2732E}"/>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3817163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3C9261-E053-51E2-9E31-4237BF936230}"/>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3" name="Footer Placeholder 2">
            <a:extLst>
              <a:ext uri="{FF2B5EF4-FFF2-40B4-BE49-F238E27FC236}">
                <a16:creationId xmlns:a16="http://schemas.microsoft.com/office/drawing/2014/main" id="{4ADD0D58-B2C0-7D55-85B2-7C8A384A5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BED365-D1C7-BDE7-93DC-A935FD4EFCE9}"/>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53183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E71D-9C0E-83B5-E28A-4FE05B45C4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7014F0-CF38-93F2-C16C-1590D231FF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141B39-3F86-052B-F289-069AF0BEC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CEDE8-E941-2EBE-7D11-91B15880A9AA}"/>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6" name="Footer Placeholder 5">
            <a:extLst>
              <a:ext uri="{FF2B5EF4-FFF2-40B4-BE49-F238E27FC236}">
                <a16:creationId xmlns:a16="http://schemas.microsoft.com/office/drawing/2014/main" id="{8C1EF2BD-B75F-4CA5-2EE6-3787E291FB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736491-CEC6-0912-9B9E-86EFAD8F2BB8}"/>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195518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4A645-C18C-5512-A682-70229FCDC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B85896-55FA-33EB-8CF8-CBA7E4672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82DA71-F16E-301E-14A2-2ABA98E10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32C411-1892-AD86-E58A-217A2E58A58A}"/>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6" name="Footer Placeholder 5">
            <a:extLst>
              <a:ext uri="{FF2B5EF4-FFF2-40B4-BE49-F238E27FC236}">
                <a16:creationId xmlns:a16="http://schemas.microsoft.com/office/drawing/2014/main" id="{0F9DE83B-DA35-47A9-F3E0-4FCED6C8AE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34E0BE-B20A-6B2D-D6B7-B8FF52084FE2}"/>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2810060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8CEE-CC33-020E-2269-0C00375594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23DD75-A65C-9BD4-3114-7E9C45C344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593DA-69CA-B766-20CC-7A8DAC3E63E9}"/>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E4C03892-D314-9D15-E4B4-0DE80DCF1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E72D2-7B3A-3DFE-7586-D18F8A1E0C5B}"/>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4191346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320E2-6326-C861-0D91-587D5B132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80F827-52F8-A27D-8C13-4F49D752B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8750F9-E4C6-3D64-8C0C-B8E5170574DD}"/>
              </a:ext>
            </a:extLst>
          </p:cNvPr>
          <p:cNvSpPr>
            <a:spLocks noGrp="1"/>
          </p:cNvSpPr>
          <p:nvPr>
            <p:ph type="dt" sz="half" idx="10"/>
          </p:nvPr>
        </p:nvSpPr>
        <p:spPr/>
        <p:txBody>
          <a:body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0088B138-CBB4-6239-86FC-9755A528AA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DB49D-E098-33E3-6A93-6EBABAD28DF8}"/>
              </a:ext>
            </a:extLst>
          </p:cNvPr>
          <p:cNvSpPr>
            <a:spLocks noGrp="1"/>
          </p:cNvSpPr>
          <p:nvPr>
            <p:ph type="sldNum" sz="quarter" idx="12"/>
          </p:nvPr>
        </p:nvSpPr>
        <p:spPr/>
        <p:txBody>
          <a:bodyPr/>
          <a:lstStyle/>
          <a:p>
            <a:fld id="{E73242F8-6E67-41A1-8964-2218AAA3E466}" type="slidenum">
              <a:rPr lang="en-US" smtClean="0"/>
              <a:t>‹#›</a:t>
            </a:fld>
            <a:endParaRPr lang="en-US"/>
          </a:p>
        </p:txBody>
      </p:sp>
    </p:spTree>
    <p:extLst>
      <p:ext uri="{BB962C8B-B14F-4D97-AF65-F5344CB8AC3E}">
        <p14:creationId xmlns:p14="http://schemas.microsoft.com/office/powerpoint/2010/main" val="4037329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9D6B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B94431-F2ED-E443-FE3A-075B6E3962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1F05AA-E812-3C0B-7A8A-2AC4074021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704691-AFC1-9069-E26C-59C8C9E1C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44D118-A4FD-4F7B-A3B1-F90AC5A48352}" type="datetimeFigureOut">
              <a:rPr lang="en-US" smtClean="0"/>
              <a:t>10/24/2026</a:t>
            </a:fld>
            <a:endParaRPr lang="en-US"/>
          </a:p>
        </p:txBody>
      </p:sp>
      <p:sp>
        <p:nvSpPr>
          <p:cNvPr id="5" name="Footer Placeholder 4">
            <a:extLst>
              <a:ext uri="{FF2B5EF4-FFF2-40B4-BE49-F238E27FC236}">
                <a16:creationId xmlns:a16="http://schemas.microsoft.com/office/drawing/2014/main" id="{227E49DE-E5FF-B3A5-2FFB-5A596C664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395BBE-A13D-EA9F-B28D-DB11EA758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242F8-6E67-41A1-8964-2218AAA3E466}" type="slidenum">
              <a:rPr lang="en-US" smtClean="0"/>
              <a:t>‹#›</a:t>
            </a:fld>
            <a:endParaRPr lang="en-US"/>
          </a:p>
        </p:txBody>
      </p:sp>
    </p:spTree>
    <p:extLst>
      <p:ext uri="{BB962C8B-B14F-4D97-AF65-F5344CB8AC3E}">
        <p14:creationId xmlns:p14="http://schemas.microsoft.com/office/powerpoint/2010/main" val="4062807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3.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3.png"/><Relationship Id="rId18" Type="http://schemas.openxmlformats.org/officeDocument/2006/relationships/customXml" Target="../ink/ink7.xml"/><Relationship Id="rId3" Type="http://schemas.microsoft.com/office/2007/relationships/hdphoto" Target="../media/hdphoto5.wdp"/><Relationship Id="rId21" Type="http://schemas.openxmlformats.org/officeDocument/2006/relationships/image" Target="../media/image17.png"/><Relationship Id="rId7" Type="http://schemas.openxmlformats.org/officeDocument/2006/relationships/image" Target="../media/image10.png"/><Relationship Id="rId12" Type="http://schemas.openxmlformats.org/officeDocument/2006/relationships/customXml" Target="../ink/ink4.xml"/><Relationship Id="rId17" Type="http://schemas.openxmlformats.org/officeDocument/2006/relationships/image" Target="../media/image15.png"/><Relationship Id="rId25" Type="http://schemas.openxmlformats.org/officeDocument/2006/relationships/image" Target="../media/image19.png"/><Relationship Id="rId2" Type="http://schemas.openxmlformats.org/officeDocument/2006/relationships/image" Target="../media/image8.png"/><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12.png"/><Relationship Id="rId24" Type="http://schemas.openxmlformats.org/officeDocument/2006/relationships/customXml" Target="../ink/ink10.xml"/><Relationship Id="rId5" Type="http://schemas.microsoft.com/office/2007/relationships/hdphoto" Target="../media/hdphoto6.wdp"/><Relationship Id="rId15" Type="http://schemas.openxmlformats.org/officeDocument/2006/relationships/image" Target="../media/image14.png"/><Relationship Id="rId23" Type="http://schemas.openxmlformats.org/officeDocument/2006/relationships/image" Target="../media/image18.png"/><Relationship Id="rId10" Type="http://schemas.openxmlformats.org/officeDocument/2006/relationships/customXml" Target="../ink/ink3.xml"/><Relationship Id="rId19"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1.png"/><Relationship Id="rId14" Type="http://schemas.openxmlformats.org/officeDocument/2006/relationships/customXml" Target="../ink/ink5.xml"/><Relationship Id="rId22" Type="http://schemas.openxmlformats.org/officeDocument/2006/relationships/customXml" Target="../ink/ink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7F73-77B8-E42D-9D11-46263782FB31}"/>
              </a:ext>
            </a:extLst>
          </p:cNvPr>
          <p:cNvSpPr>
            <a:spLocks noGrp="1"/>
          </p:cNvSpPr>
          <p:nvPr>
            <p:ph type="ctrTitle"/>
          </p:nvPr>
        </p:nvSpPr>
        <p:spPr>
          <a:xfrm>
            <a:off x="1523999" y="121733"/>
            <a:ext cx="9144000" cy="1395340"/>
          </a:xfrm>
        </p:spPr>
        <p:txBody>
          <a:bodyPr>
            <a:normAutofit fontScale="90000"/>
          </a:bodyPr>
          <a:lstStyle/>
          <a:p>
            <a:r>
              <a:rPr lang="fa-IR" sz="9600" dirty="0">
                <a:latin typeface="IRDavat" panose="02000503000000020002" pitchFamily="2" charset="-78"/>
                <a:cs typeface="IRDavat" panose="02000503000000020002" pitchFamily="2" charset="-78"/>
              </a:rPr>
              <a:t>تحقیق درباره ی سعدی</a:t>
            </a:r>
            <a:endParaRPr lang="en-US" sz="9600" dirty="0">
              <a:latin typeface="IRDavat" panose="02000503000000020002" pitchFamily="2" charset="-78"/>
              <a:cs typeface="IRDavat" panose="02000503000000020002" pitchFamily="2" charset="-78"/>
            </a:endParaRPr>
          </a:p>
        </p:txBody>
      </p:sp>
      <p:sp>
        <p:nvSpPr>
          <p:cNvPr id="3" name="Subtitle 2">
            <a:extLst>
              <a:ext uri="{FF2B5EF4-FFF2-40B4-BE49-F238E27FC236}">
                <a16:creationId xmlns:a16="http://schemas.microsoft.com/office/drawing/2014/main" id="{48469AAF-88B6-B31F-0E67-9252954EA969}"/>
              </a:ext>
            </a:extLst>
          </p:cNvPr>
          <p:cNvSpPr>
            <a:spLocks noGrp="1"/>
          </p:cNvSpPr>
          <p:nvPr>
            <p:ph type="subTitle" idx="1"/>
          </p:nvPr>
        </p:nvSpPr>
        <p:spPr>
          <a:xfrm>
            <a:off x="1523999" y="3272631"/>
            <a:ext cx="9144000" cy="1655762"/>
          </a:xfrm>
        </p:spPr>
        <p:txBody>
          <a:bodyPr>
            <a:normAutofit/>
          </a:bodyPr>
          <a:lstStyle/>
          <a:p>
            <a:r>
              <a:rPr lang="fa-IR" sz="4000" dirty="0"/>
              <a:t>علی اکاتی دلیر</a:t>
            </a:r>
          </a:p>
          <a:p>
            <a:r>
              <a:rPr lang="fa-IR" sz="4000" dirty="0"/>
              <a:t>کلاس پنجم الف</a:t>
            </a:r>
            <a:endParaRPr lang="en-US" sz="4000" dirty="0"/>
          </a:p>
        </p:txBody>
      </p:sp>
      <p:pic>
        <p:nvPicPr>
          <p:cNvPr id="4" name="Iskandar Widjaja - Spiegel im Spiegel - musicgeek.ir">
            <a:hlinkClick r:id="" action="ppaction://media"/>
            <a:extLst>
              <a:ext uri="{FF2B5EF4-FFF2-40B4-BE49-F238E27FC236}">
                <a16:creationId xmlns:a16="http://schemas.microsoft.com/office/drawing/2014/main" id="{282BFB30-F565-B4BA-CC5F-980FC3E776F8}"/>
              </a:ext>
            </a:extLst>
          </p:cNvPr>
          <p:cNvPicPr>
            <a:picLocks noChangeAspect="1"/>
          </p:cNvPicPr>
          <p:nvPr>
            <a:audioFile r:link="rId2"/>
            <p:extLst>
              <p:ext uri="{DAA4B4D4-6D71-4841-9C94-3DE7FCFB9230}">
                <p14:media xmlns:p14="http://schemas.microsoft.com/office/powerpoint/2010/main" r:embed="rId1"/>
              </p:ext>
            </p:extLst>
          </p:nvPr>
        </p:nvPicPr>
        <p:blipFill>
          <a:blip r:embed="rId5">
            <a:extLst>
              <a:ext uri="{BEBA8EAE-BF5A-486C-A8C5-ECC9F3942E4B}">
                <a14:imgProps xmlns:a14="http://schemas.microsoft.com/office/drawing/2010/main">
                  <a14:imgLayer r:embed="rId6">
                    <a14:imgEffect>
                      <a14:artisticGlowEdges/>
                    </a14:imgEffect>
                  </a14:imgLayer>
                </a14:imgProps>
              </a:ext>
            </a:extLst>
          </a:blip>
          <a:stretch>
            <a:fillRect/>
          </a:stretch>
        </p:blipFill>
        <p:spPr>
          <a:xfrm>
            <a:off x="5715539" y="1924986"/>
            <a:ext cx="760919" cy="760919"/>
          </a:xfrm>
          <a:prstGeom prst="rect">
            <a:avLst/>
          </a:prstGeom>
          <a:effectLst>
            <a:glow rad="228600">
              <a:schemeClr val="accent4">
                <a:satMod val="175000"/>
                <a:alpha val="40000"/>
              </a:schemeClr>
            </a:glow>
          </a:effectLst>
        </p:spPr>
      </p:pic>
      <p:pic>
        <p:nvPicPr>
          <p:cNvPr id="6" name="Picture 5">
            <a:hlinkClick r:id="" action="ppaction://hlinkshowjump?jump=nextslide"/>
            <a:extLst>
              <a:ext uri="{FF2B5EF4-FFF2-40B4-BE49-F238E27FC236}">
                <a16:creationId xmlns:a16="http://schemas.microsoft.com/office/drawing/2014/main" id="{721D777C-A30B-A46D-7208-C03C7E2CE92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75000" b="97000" l="3667" r="92667">
                        <a14:foregroundMark x1="9333" y1="83000" x2="9333" y2="83000"/>
                        <a14:foregroundMark x1="3667" y1="84000" x2="3667" y2="84000"/>
                        <a14:foregroundMark x1="92667" y1="85333" x2="92667" y2="85333"/>
                      </a14:backgroundRemoval>
                    </a14:imgEffect>
                  </a14:imgLayer>
                </a14:imgProps>
              </a:ext>
              <a:ext uri="{28A0092B-C50C-407E-A947-70E740481C1C}">
                <a14:useLocalDpi xmlns:a14="http://schemas.microsoft.com/office/drawing/2010/main" val="0"/>
              </a:ext>
            </a:extLst>
          </a:blip>
          <a:srcRect l="3185" t="75481" r="4074" b="4667"/>
          <a:stretch>
            <a:fillRect/>
          </a:stretch>
        </p:blipFill>
        <p:spPr>
          <a:xfrm>
            <a:off x="4770966" y="5340927"/>
            <a:ext cx="2650067" cy="567268"/>
          </a:xfrm>
          <a:prstGeom prst="rect">
            <a:avLst/>
          </a:prstGeom>
          <a:blipFill>
            <a:blip r:embed="rId4"/>
            <a:tile tx="0" ty="0" sx="100000" sy="100000" flip="none" algn="tl"/>
          </a:blipFill>
        </p:spPr>
      </p:pic>
      <p:sp>
        <p:nvSpPr>
          <p:cNvPr id="7" name="Rectangle: Rounded Corners 6">
            <a:extLst>
              <a:ext uri="{FF2B5EF4-FFF2-40B4-BE49-F238E27FC236}">
                <a16:creationId xmlns:a16="http://schemas.microsoft.com/office/drawing/2014/main" id="{B30C1262-F084-B78E-B14A-2369EBCB9465}"/>
              </a:ext>
            </a:extLst>
          </p:cNvPr>
          <p:cNvSpPr/>
          <p:nvPr/>
        </p:nvSpPr>
        <p:spPr>
          <a:xfrm>
            <a:off x="4770966" y="5340927"/>
            <a:ext cx="2650067" cy="567268"/>
          </a:xfrm>
          <a:prstGeom prst="roundRect">
            <a:avLst>
              <a:gd name="adj" fmla="val 50000"/>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Start </a:t>
            </a:r>
          </a:p>
        </p:txBody>
      </p:sp>
    </p:spTree>
    <p:extLst>
      <p:ext uri="{BB962C8B-B14F-4D97-AF65-F5344CB8AC3E}">
        <p14:creationId xmlns:p14="http://schemas.microsoft.com/office/powerpoint/2010/main" val="984562974"/>
      </p:ext>
    </p:extLst>
  </p:cSld>
  <p:clrMapOvr>
    <a:masterClrMapping/>
  </p:clrMapOvr>
  <mc:AlternateContent xmlns:mc="http://schemas.openxmlformats.org/markup-compatibility/2006">
    <mc:Choice xmlns:p14="http://schemas.microsoft.com/office/powerpoint/2010/main" Requires="p14">
      <p:transition spd="slow" p14:dur="800" advClick="0">
        <p14:flythrough/>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par>
                                <p:cTn id="7" presetID="26" presetClass="emph" presetSubtype="0" fill="hold" grpId="0" nodeType="withEffect">
                                  <p:stCondLst>
                                    <p:cond delay="0"/>
                                  </p:stCondLst>
                                  <p:childTnLst>
                                    <p:animEffect transition="out" filter="fade">
                                      <p:cBhvr>
                                        <p:cTn id="8" dur="500" tmFilter="0, 0; .2, .5; .8, .5; 1, 0"/>
                                        <p:tgtEl>
                                          <p:spTgt spid="2"/>
                                        </p:tgtEl>
                                      </p:cBhvr>
                                    </p:animEffect>
                                    <p:animScale>
                                      <p:cBhvr>
                                        <p:cTn id="9" dur="250" autoRev="1" fill="hold"/>
                                        <p:tgtEl>
                                          <p:spTgt spid="2"/>
                                        </p:tgtEl>
                                      </p:cBhvr>
                                      <p:by x="105000" y="105000"/>
                                    </p:animScale>
                                  </p:childTnLst>
                                </p:cTn>
                              </p:par>
                              <p:par>
                                <p:cTn id="10" presetID="18" presetClass="emph" presetSubtype="0" fill="hold" grpId="0" nodeType="withEffect">
                                  <p:stCondLst>
                                    <p:cond delay="0"/>
                                  </p:stCondLst>
                                  <p:iterate type="lt">
                                    <p:tmPct val="4000"/>
                                  </p:iterate>
                                  <p:childTnLst>
                                    <p:set>
                                      <p:cBhvr override="childStyle">
                                        <p:cTn id="11" dur="500" fill="hold"/>
                                        <p:tgtEl>
                                          <p:spTgt spid="3">
                                            <p:txEl>
                                              <p:pRg st="0" end="0"/>
                                            </p:txEl>
                                          </p:spTgt>
                                        </p:tgtEl>
                                        <p:attrNameLst>
                                          <p:attrName>style.textDecorationUnderline</p:attrName>
                                        </p:attrNameLst>
                                      </p:cBhvr>
                                      <p:to>
                                        <p:strVal val="true"/>
                                      </p:to>
                                    </p:set>
                                  </p:childTnLst>
                                </p:cTn>
                              </p:par>
                              <p:par>
                                <p:cTn id="12" presetID="18" presetClass="emph" presetSubtype="0" fill="hold" grpId="0" nodeType="withEffect">
                                  <p:stCondLst>
                                    <p:cond delay="0"/>
                                  </p:stCondLst>
                                  <p:iterate type="lt">
                                    <p:tmPct val="4000"/>
                                  </p:iterate>
                                  <p:childTnLst>
                                    <p:set>
                                      <p:cBhvr override="childStyle">
                                        <p:cTn id="13" dur="500" fill="hold"/>
                                        <p:tgtEl>
                                          <p:spTgt spid="3">
                                            <p:txEl>
                                              <p:pRg st="1" end="1"/>
                                            </p:txEl>
                                          </p:spTgt>
                                        </p:tgtEl>
                                        <p:attrNameLst>
                                          <p:attrName>style.textDecorationUnderline</p:attrName>
                                        </p:attrNameLst>
                                      </p:cBhvr>
                                      <p:to>
                                        <p:strVal val="true"/>
                                      </p:to>
                                    </p:set>
                                  </p:childTnLst>
                                </p:cTn>
                              </p:par>
                              <p:par>
                                <p:cTn id="14" presetID="2" presetClass="entr" presetSubtype="4"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22" repeatCount="indefinite" fill="remove" display="0">
                  <p:stCondLst>
                    <p:cond delay="indefinite"/>
                  </p:stCondLst>
                  <p:endCondLst>
                    <p:cond evt="onStopAudio" delay="0">
                      <p:tgtEl>
                        <p:sldTgt/>
                      </p:tgtEl>
                    </p:cond>
                  </p:endCondLst>
                </p:cTn>
                <p:tgtEl>
                  <p:spTgt spid="4"/>
                </p:tgtEl>
              </p:cMediaNode>
            </p:audio>
          </p:childTnLst>
        </p:cTn>
      </p:par>
    </p:tnLst>
    <p:bldLst>
      <p:bldP spid="2" grpId="0"/>
      <p:bldP spid="3" grpId="0" uiExpand="1" build="p"/>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AC719C-50C9-F360-4088-5EBFDDC7208F}"/>
              </a:ext>
            </a:extLst>
          </p:cNvPr>
          <p:cNvPicPr>
            <a:picLocks noChangeAspect="1"/>
          </p:cNvPicPr>
          <p:nvPr/>
        </p:nvPicPr>
        <p:blipFill>
          <a:blip r:embed="rId3">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sp>
        <p:nvSpPr>
          <p:cNvPr id="7" name="TextBox 6">
            <a:extLst>
              <a:ext uri="{FF2B5EF4-FFF2-40B4-BE49-F238E27FC236}">
                <a16:creationId xmlns:a16="http://schemas.microsoft.com/office/drawing/2014/main" id="{7A45BBBF-683B-BA69-069D-860D456E9393}"/>
              </a:ext>
            </a:extLst>
          </p:cNvPr>
          <p:cNvSpPr txBox="1"/>
          <p:nvPr/>
        </p:nvSpPr>
        <p:spPr>
          <a:xfrm>
            <a:off x="466927" y="116736"/>
            <a:ext cx="184731" cy="353943"/>
          </a:xfrm>
          <a:prstGeom prst="rect">
            <a:avLst/>
          </a:prstGeom>
          <a:noFill/>
        </p:spPr>
        <p:txBody>
          <a:bodyPr wrap="none" rtlCol="0">
            <a:spAutoFit/>
          </a:bodyPr>
          <a:lstStyle/>
          <a:p>
            <a:endParaRPr lang="en-US" sz="1700" dirty="0"/>
          </a:p>
        </p:txBody>
      </p:sp>
      <p:pic>
        <p:nvPicPr>
          <p:cNvPr id="9" name="Picture 8">
            <a:hlinkClick r:id="" action="ppaction://hlinkshowjump?jump=nextslide"/>
            <a:extLst>
              <a:ext uri="{FF2B5EF4-FFF2-40B4-BE49-F238E27FC236}">
                <a16:creationId xmlns:a16="http://schemas.microsoft.com/office/drawing/2014/main" id="{5BF5FDAD-36D6-8468-D5FA-E4E4250A68C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sp>
        <p:nvSpPr>
          <p:cNvPr id="13" name="TextBox 12">
            <a:extLst>
              <a:ext uri="{FF2B5EF4-FFF2-40B4-BE49-F238E27FC236}">
                <a16:creationId xmlns:a16="http://schemas.microsoft.com/office/drawing/2014/main" id="{01CBD0BB-9146-E3D0-1BB2-F1D63A965FB7}"/>
              </a:ext>
            </a:extLst>
          </p:cNvPr>
          <p:cNvSpPr txBox="1"/>
          <p:nvPr/>
        </p:nvSpPr>
        <p:spPr>
          <a:xfrm>
            <a:off x="466927" y="0"/>
            <a:ext cx="11725072" cy="6250429"/>
          </a:xfrm>
          <a:prstGeom prst="rect">
            <a:avLst/>
          </a:prstGeom>
          <a:noFill/>
        </p:spPr>
        <p:txBody>
          <a:bodyPr wrap="square">
            <a:spAutoFit/>
          </a:bodyPr>
          <a:lstStyle/>
          <a:p>
            <a:pPr algn="just" rtl="1">
              <a:spcBef>
                <a:spcPts val="1875"/>
              </a:spcBef>
              <a:spcAft>
                <a:spcPts val="750"/>
              </a:spcAft>
              <a:buNone/>
            </a:pPr>
            <a:r>
              <a:rPr lang="fa-IR" b="1" i="0" dirty="0">
                <a:solidFill>
                  <a:srgbClr val="003366"/>
                </a:solidFill>
                <a:effectLst/>
                <a:latin typeface="IRANSans"/>
              </a:rPr>
              <a:t>زندگی نامه‌ سعدی شیرازی</a:t>
            </a:r>
            <a:endParaRPr lang="fa-IR" b="0" i="0" dirty="0">
              <a:solidFill>
                <a:srgbClr val="003366"/>
              </a:solidFill>
              <a:effectLst/>
              <a:latin typeface="IRANSans"/>
            </a:endParaRPr>
          </a:p>
          <a:p>
            <a:pPr algn="just" rtl="1">
              <a:spcAft>
                <a:spcPts val="1500"/>
              </a:spcAft>
              <a:buNone/>
            </a:pPr>
            <a:r>
              <a:rPr lang="fa-IR" b="0" i="0" dirty="0">
                <a:solidFill>
                  <a:srgbClr val="333333"/>
                </a:solidFill>
                <a:effectLst/>
                <a:latin typeface="IRANSans"/>
              </a:rPr>
              <a:t>آوازهٔ </a:t>
            </a:r>
            <a:r>
              <a:rPr lang="fa-IR" b="1" i="0" dirty="0">
                <a:solidFill>
                  <a:srgbClr val="333333"/>
                </a:solidFill>
                <a:effectLst/>
                <a:latin typeface="IRANSans"/>
              </a:rPr>
              <a:t>سعدی</a:t>
            </a:r>
            <a:r>
              <a:rPr lang="fa-IR" b="0" i="0" dirty="0">
                <a:solidFill>
                  <a:srgbClr val="333333"/>
                </a:solidFill>
                <a:effectLst/>
                <a:latin typeface="IRANSans"/>
              </a:rPr>
              <a:t> بیشتر به‌خاطر نظم و نثر آهنگین، گیرا و قوی اوست. جایگاهش نزد اهل ادب تا بدان‌جاست که به وی لقب استادِ سخن، پادشاهِ سخن، شیخِ اجلّ و حتی به‌طور مطلق، استاد داده‌اند. آثار معروفش کتاب گلستان به </a:t>
            </a:r>
            <a:r>
              <a:rPr lang="fa-IR" dirty="0">
                <a:solidFill>
                  <a:srgbClr val="333333"/>
                </a:solidFill>
                <a:latin typeface="IRANSans"/>
              </a:rPr>
              <a:t>نثر و مثنوی بوستان </a:t>
            </a:r>
            <a:r>
              <a:rPr lang="fa-IR" b="0" i="0" dirty="0">
                <a:solidFill>
                  <a:srgbClr val="333333"/>
                </a:solidFill>
                <a:effectLst/>
                <a:latin typeface="IRANSans"/>
              </a:rPr>
              <a:t>در بحر متقارب (وزنِ شاهنامهٔ فردوسی) و نیز غزلیات و دیوان اشعار اوست که به مجموع آثار او کلیات سعدی می‌گویند.</a:t>
            </a:r>
          </a:p>
          <a:p>
            <a:pPr algn="just" rtl="1">
              <a:spcAft>
                <a:spcPts val="1500"/>
              </a:spcAft>
              <a:buNone/>
            </a:pPr>
            <a:r>
              <a:rPr lang="fa-IR" b="0" i="0" dirty="0">
                <a:solidFill>
                  <a:srgbClr val="333333"/>
                </a:solidFill>
                <a:effectLst/>
                <a:latin typeface="IRANSans"/>
              </a:rPr>
              <a:t>در آن زمان در شیراز اتابکان فرمان میراندند. به مرور که </a:t>
            </a:r>
            <a:r>
              <a:rPr lang="fa-IR" dirty="0">
                <a:solidFill>
                  <a:srgbClr val="333333"/>
                </a:solidFill>
                <a:latin typeface="IRANSans"/>
              </a:rPr>
              <a:t>قدرت سلجوقیان </a:t>
            </a:r>
            <a:r>
              <a:rPr lang="fa-IR" b="0" i="0" dirty="0">
                <a:solidFill>
                  <a:srgbClr val="333333"/>
                </a:solidFill>
                <a:effectLst/>
                <a:latin typeface="IRANSans"/>
              </a:rPr>
              <a:t>کاهش یافت سلسله های محلی به وجود میامدند و نیرو میگرفتند اتابکان نه تنها در شیراز بلکه در دمشق، موصل، بین النهرین، حلب و آذربایجان دستی داشتند این حکومت های کوچک که اهمیت آنها از یک شهرستان تا یک سلطان نشین تغییر میکرد نسبت به یک پادشاه ابراز اطاعت میکردند ولی در عمل مستقل بودند.</a:t>
            </a:r>
          </a:p>
          <a:p>
            <a:pPr algn="just" rtl="1">
              <a:spcAft>
                <a:spcPts val="1500"/>
              </a:spcAft>
              <a:buNone/>
            </a:pPr>
            <a:r>
              <a:rPr lang="fa-IR" b="0" i="0" dirty="0">
                <a:solidFill>
                  <a:srgbClr val="333333"/>
                </a:solidFill>
                <a:effectLst/>
                <a:latin typeface="IRANSans"/>
              </a:rPr>
              <a:t>هنگام تولد سعدی حکمران شیراز اتابک مظفر الدین تکله سومین پادشاه از اتابکان فارس بود از ده سال پیش تکله در مقابل اتبکان عراق بدشواری مقاومت میکرد و همچنین مورد دستبرد و غارت اتابکان آذربایجان نیز قرار میگرفت.</a:t>
            </a:r>
          </a:p>
          <a:p>
            <a:pPr algn="just" rtl="1">
              <a:spcAft>
                <a:spcPts val="1500"/>
              </a:spcAft>
              <a:buNone/>
            </a:pPr>
            <a:r>
              <a:rPr lang="fa-IR" b="0" i="0" dirty="0">
                <a:solidFill>
                  <a:srgbClr val="333333"/>
                </a:solidFill>
                <a:effectLst/>
                <a:latin typeface="IRANSans"/>
              </a:rPr>
              <a:t>شاعر پر آوازه در میان همه این بی نظمی ها در شهر شیراز رشد و زندگی میکرد پدر سعدی، عبدالله در خدمت سعد بن زنگی بود که احتمال دارد شاعر شیرین سخن شیراز نیز به عنوان حق شناسی تخلص سعدی را برای خود انتخاب کرده است.</a:t>
            </a:r>
          </a:p>
          <a:p>
            <a:pPr algn="just" rtl="1">
              <a:spcAft>
                <a:spcPts val="1500"/>
              </a:spcAft>
              <a:buNone/>
            </a:pPr>
            <a:r>
              <a:rPr lang="fa-IR" b="0" i="0" dirty="0">
                <a:solidFill>
                  <a:srgbClr val="333333"/>
                </a:solidFill>
                <a:effectLst/>
                <a:latin typeface="IRANSans"/>
              </a:rPr>
              <a:t>یکی از مشخصات نبوغ سعدی در این است که از کوچکترین حادثه زندگی خود درسی اخلاقی میدهد در چندین جای کلیات کودکی او مطرح است و چنین مینماید که وی از دوران طفولیت خود خاطره ای دلنشین و در عین حال حزن انگیز دارد چگونگی سالهای خردسالیش در بوستان آمده که از آنجا میتوان فهمید پدرش از کارکنان ساده دیوان اما در رفاه بوده است.</a:t>
            </a:r>
          </a:p>
          <a:p>
            <a:pPr algn="ctr" rtl="1">
              <a:spcAft>
                <a:spcPts val="1500"/>
              </a:spcAft>
              <a:buNone/>
            </a:pPr>
            <a:r>
              <a:rPr lang="fa-IR" b="0" i="0" dirty="0">
                <a:solidFill>
                  <a:srgbClr val="008000"/>
                </a:solidFill>
                <a:effectLst/>
                <a:latin typeface="IRANSans"/>
              </a:rPr>
              <a:t>ز عهد پدر یاد دارم همی که باران رحمت بر او هر دمی</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که طفلیم لوح و دفتر خرید ز بهر یکی خاتم زر خرید</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بدر کرد ناگه یکی مشتری به خرمایی و از دستم انگشتری</a:t>
            </a:r>
          </a:p>
        </p:txBody>
      </p:sp>
      <p:pic>
        <p:nvPicPr>
          <p:cNvPr id="16" name="Picture 15">
            <a:hlinkClick r:id="" action="ppaction://hlinkshowjump?jump=previousslide"/>
            <a:extLst>
              <a:ext uri="{FF2B5EF4-FFF2-40B4-BE49-F238E27FC236}">
                <a16:creationId xmlns:a16="http://schemas.microsoft.com/office/drawing/2014/main" id="{E79259A5-25A8-8B93-F364-874CC4D42E89}"/>
              </a:ext>
            </a:extLst>
          </p:cNvPr>
          <p:cNvPicPr>
            <a:picLocks noChangeAspect="1"/>
          </p:cNvPicPr>
          <p:nvPr/>
        </p:nvPicPr>
        <p:blipFill>
          <a:blip r:embed="rId6">
            <a:extLst>
              <a:ext uri="{BEBA8EAE-BF5A-486C-A8C5-ECC9F3942E4B}">
                <a14:imgProps xmlns:a14="http://schemas.microsoft.com/office/drawing/2010/main">
                  <a14:imgLayer r:embed="rId5">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Tree>
    <p:extLst>
      <p:ext uri="{BB962C8B-B14F-4D97-AF65-F5344CB8AC3E}">
        <p14:creationId xmlns:p14="http://schemas.microsoft.com/office/powerpoint/2010/main" val="39913099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750" advClick="0">
        <p15:prstTrans prst="peelOff"/>
      </p:transition>
    </mc:Choice>
    <mc:Fallback>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0DE04F-A205-5353-3FAF-B025264B99BF}"/>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sp>
        <p:nvSpPr>
          <p:cNvPr id="6" name="TextBox 5">
            <a:extLst>
              <a:ext uri="{FF2B5EF4-FFF2-40B4-BE49-F238E27FC236}">
                <a16:creationId xmlns:a16="http://schemas.microsoft.com/office/drawing/2014/main" id="{88EA2EB6-F184-6A1B-74DD-36F85A7E1216}"/>
              </a:ext>
            </a:extLst>
          </p:cNvPr>
          <p:cNvSpPr txBox="1"/>
          <p:nvPr/>
        </p:nvSpPr>
        <p:spPr>
          <a:xfrm>
            <a:off x="466927" y="0"/>
            <a:ext cx="11725072" cy="1392689"/>
          </a:xfrm>
          <a:prstGeom prst="rect">
            <a:avLst/>
          </a:prstGeom>
          <a:noFill/>
        </p:spPr>
        <p:txBody>
          <a:bodyPr wrap="square">
            <a:spAutoFit/>
          </a:bodyPr>
          <a:lstStyle/>
          <a:p>
            <a:pPr algn="just" rtl="1">
              <a:spcAft>
                <a:spcPts val="1500"/>
              </a:spcAft>
              <a:buNone/>
            </a:pPr>
            <a:r>
              <a:rPr lang="fa-IR" b="0" i="0" dirty="0">
                <a:solidFill>
                  <a:srgbClr val="333333"/>
                </a:solidFill>
                <a:effectLst/>
                <a:latin typeface="IRANSans"/>
              </a:rPr>
              <a:t>بعد از مرگ پدر سعدی در شیراز تنها ماند در سایه توجه اتابک سعدی که در از همان دورانبر اثر هوش و ذکاوت بالای خود نزد همه انگشت نما بود رهسپار بغداد گشت و وارد مدرسه نظام شد و از سال 574 تا 604 یعنی تا سال فوت اتابک سعد بن زنگی و بر تخت نشستن فرزندش ابوبکردر بغداد ماند.</a:t>
            </a:r>
          </a:p>
          <a:p>
            <a:pPr algn="just" rtl="1">
              <a:spcAft>
                <a:spcPts val="1500"/>
              </a:spcAft>
              <a:buNone/>
            </a:pPr>
            <a:r>
              <a:rPr lang="fa-IR" b="0" i="0" dirty="0">
                <a:solidFill>
                  <a:srgbClr val="333333"/>
                </a:solidFill>
                <a:effectLst/>
                <a:latin typeface="IRANSans"/>
              </a:rPr>
              <a:t>هنگامی که سعدی برای تحصیل به نظامیه رفت، مدرسه از گذشته ای پر اتخار بر خوردار بود. تا زمان سعدی متعدد نظامیه کتبی در مورد الهیات، فقه، تفسیر قرآن تالیف کرده بودند که نشان دهنده بزرگی و اعتبار مدرسه در آن زمان می باشد.</a:t>
            </a:r>
            <a:endParaRPr lang="en-US" b="0" i="0" dirty="0">
              <a:solidFill>
                <a:srgbClr val="333333"/>
              </a:solidFill>
              <a:effectLst/>
              <a:latin typeface="IRANSans"/>
            </a:endParaRPr>
          </a:p>
        </p:txBody>
      </p:sp>
      <p:sp>
        <p:nvSpPr>
          <p:cNvPr id="8" name="TextBox 7">
            <a:extLst>
              <a:ext uri="{FF2B5EF4-FFF2-40B4-BE49-F238E27FC236}">
                <a16:creationId xmlns:a16="http://schemas.microsoft.com/office/drawing/2014/main" id="{17C0EEC7-B551-6B41-B0A5-84F6B2A37EAD}"/>
              </a:ext>
            </a:extLst>
          </p:cNvPr>
          <p:cNvSpPr txBox="1"/>
          <p:nvPr/>
        </p:nvSpPr>
        <p:spPr>
          <a:xfrm>
            <a:off x="475013" y="1392689"/>
            <a:ext cx="11725072" cy="4372992"/>
          </a:xfrm>
          <a:prstGeom prst="rect">
            <a:avLst/>
          </a:prstGeom>
          <a:noFill/>
        </p:spPr>
        <p:txBody>
          <a:bodyPr wrap="square">
            <a:spAutoFit/>
          </a:bodyPr>
          <a:lstStyle/>
          <a:p>
            <a:pPr algn="just" rtl="1">
              <a:spcBef>
                <a:spcPts val="1875"/>
              </a:spcBef>
              <a:spcAft>
                <a:spcPts val="750"/>
              </a:spcAft>
              <a:buNone/>
            </a:pPr>
            <a:r>
              <a:rPr lang="fa-IR" b="0" i="0" dirty="0">
                <a:solidFill>
                  <a:srgbClr val="003366"/>
                </a:solidFill>
                <a:effectLst/>
                <a:latin typeface="IRANSans"/>
              </a:rPr>
              <a:t>سالهای مسافرت سعدی</a:t>
            </a:r>
            <a:br>
              <a:rPr lang="fa-IR" b="1" i="0" dirty="0">
                <a:solidFill>
                  <a:srgbClr val="003366"/>
                </a:solidFill>
                <a:effectLst/>
                <a:latin typeface="IRANSans"/>
              </a:rPr>
            </a:br>
            <a:endParaRPr lang="fa-IR" b="0" i="0" dirty="0">
              <a:solidFill>
                <a:srgbClr val="003366"/>
              </a:solidFill>
              <a:effectLst/>
              <a:latin typeface="IRANSans"/>
            </a:endParaRPr>
          </a:p>
          <a:p>
            <a:pPr algn="just" rtl="1">
              <a:spcAft>
                <a:spcPts val="1500"/>
              </a:spcAft>
              <a:buNone/>
            </a:pPr>
            <a:r>
              <a:rPr lang="fa-IR" b="0" i="0" dirty="0">
                <a:solidFill>
                  <a:srgbClr val="333333"/>
                </a:solidFill>
                <a:effectLst/>
                <a:latin typeface="IRANSans"/>
              </a:rPr>
              <a:t>سعدی در کلیات از سفر به آسیای مرکزی، هندوستان، شام، مصر، عربستان، حبشه و مغرب بدون کمترین سرنخی برای ترتیب این سفرها معلوم شود نام برده است.</a:t>
            </a:r>
          </a:p>
          <a:p>
            <a:pPr algn="just" rtl="1">
              <a:spcAft>
                <a:spcPts val="1500"/>
              </a:spcAft>
              <a:buNone/>
            </a:pPr>
            <a:r>
              <a:rPr lang="fa-IR" b="0" i="0" dirty="0">
                <a:solidFill>
                  <a:srgbClr val="333333"/>
                </a:solidFill>
                <a:effectLst/>
                <a:latin typeface="IRANSans"/>
              </a:rPr>
              <a:t>میتوان چنین تصور کرد که سعدی سفرهای خود را با عزیمت مجدد به سمت مشرق آغاز کرد. اگر سعدی از شیراز عزیمت میکرد می توانست یک راست از </a:t>
            </a:r>
            <a:r>
              <a:rPr lang="fa-IR" dirty="0">
                <a:solidFill>
                  <a:srgbClr val="333333"/>
                </a:solidFill>
                <a:latin typeface="IRANSans"/>
              </a:rPr>
              <a:t>راه کرمان و سیستان و خراسان به بلخ رسد. مسافر بلخ ناچار به جنوب شرقی عزیمت می کرد و از گردنه های کوه بابا میگذشت و به بامیان میرسید و از آنجا راهی هندوستان می‌شد.</a:t>
            </a:r>
          </a:p>
          <a:p>
            <a:pPr algn="just" rtl="1">
              <a:spcAft>
                <a:spcPts val="1500"/>
              </a:spcAft>
              <a:buNone/>
            </a:pPr>
            <a:r>
              <a:rPr lang="fa-IR" dirty="0">
                <a:solidFill>
                  <a:srgbClr val="333333"/>
                </a:solidFill>
                <a:latin typeface="IRANSans"/>
              </a:rPr>
              <a:t>در مورد سفر به هندوستان و مدت اقامت و مکان های بازید سعدی در هند تناقص های زیادی وجود دارد در عین حال هنگام بازگشت از هند سعدی به همرا یک کشتی بازرگانی وارد جزیره کیش میشود</a:t>
            </a:r>
            <a:r>
              <a:rPr lang="fa-IR" b="0" i="0" dirty="0">
                <a:solidFill>
                  <a:srgbClr val="333333"/>
                </a:solidFill>
                <a:effectLst/>
                <a:latin typeface="IRANSans"/>
              </a:rPr>
              <a:t>. که در آن زمان مرکز اقتصادی ایران به شمار میرفته است. حال پایان سفر نیست چون شاعر به جای بازگشت به زادگاه خود شیراز به زیارت خانه خدا میرود در مسیر حرکت خود به سوی شهر مقدس مکه در صهعا توقف میکند وی در این شهر یکبار دیگر ازواج میکند که حاصل آن یک فرزند کوچک هست که رشته ای است که او را به آن سرزمین پیوند داده است. ناگهان این کودک در گذشت. درد و غضه پدر همان بود که معمولا به پدران در چنین مصیبتی وارد می شود.</a:t>
            </a:r>
          </a:p>
          <a:p>
            <a:pPr algn="ctr" rtl="1">
              <a:spcAft>
                <a:spcPts val="1500"/>
              </a:spcAft>
              <a:buNone/>
            </a:pPr>
            <a:endParaRPr lang="fa-IR" b="0" i="0" dirty="0">
              <a:solidFill>
                <a:srgbClr val="333333"/>
              </a:solidFill>
              <a:effectLst/>
              <a:latin typeface="IRANSans"/>
            </a:endParaRPr>
          </a:p>
        </p:txBody>
      </p:sp>
      <p:pic>
        <p:nvPicPr>
          <p:cNvPr id="11" name="Picture 10">
            <a:hlinkClick r:id="" action="ppaction://hlinkshowjump?jump=nextslide"/>
            <a:extLst>
              <a:ext uri="{FF2B5EF4-FFF2-40B4-BE49-F238E27FC236}">
                <a16:creationId xmlns:a16="http://schemas.microsoft.com/office/drawing/2014/main" id="{DEEA2F0A-5DB4-68CB-9141-EA9FC118682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12" name="Picture 11">
            <a:hlinkClick r:id="" action="ppaction://hlinkshowjump?jump=previousslide"/>
            <a:extLst>
              <a:ext uri="{FF2B5EF4-FFF2-40B4-BE49-F238E27FC236}">
                <a16:creationId xmlns:a16="http://schemas.microsoft.com/office/drawing/2014/main" id="{E4F4D89A-332B-D1AA-D246-5E4231DD8A51}"/>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Tree>
    <p:extLst>
      <p:ext uri="{BB962C8B-B14F-4D97-AF65-F5344CB8AC3E}">
        <p14:creationId xmlns:p14="http://schemas.microsoft.com/office/powerpoint/2010/main" val="4215239990"/>
      </p:ext>
    </p:extLst>
  </p:cSld>
  <p:clrMapOvr>
    <a:masterClrMapping/>
  </p:clrMapOvr>
  <p:transition advClick="0">
    <p:wheel spokes="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0306-37C9-3BD0-54B1-3D674134E9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F57DB56-B5F3-3C12-3BE1-EB8D1BC8186A}"/>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sp>
        <p:nvSpPr>
          <p:cNvPr id="3" name="TextBox 2">
            <a:extLst>
              <a:ext uri="{FF2B5EF4-FFF2-40B4-BE49-F238E27FC236}">
                <a16:creationId xmlns:a16="http://schemas.microsoft.com/office/drawing/2014/main" id="{0528F98B-BFD2-E727-DA15-DC8114A7D296}"/>
              </a:ext>
            </a:extLst>
          </p:cNvPr>
          <p:cNvSpPr txBox="1"/>
          <p:nvPr/>
        </p:nvSpPr>
        <p:spPr>
          <a:xfrm>
            <a:off x="475013" y="1"/>
            <a:ext cx="11716986" cy="5424562"/>
          </a:xfrm>
          <a:prstGeom prst="rect">
            <a:avLst/>
          </a:prstGeom>
          <a:noFill/>
        </p:spPr>
        <p:txBody>
          <a:bodyPr wrap="square">
            <a:spAutoFit/>
          </a:bodyPr>
          <a:lstStyle/>
          <a:p>
            <a:pPr algn="ctr" rtl="1">
              <a:spcAft>
                <a:spcPts val="1500"/>
              </a:spcAft>
              <a:buNone/>
            </a:pPr>
            <a:r>
              <a:rPr lang="fa-IR" b="0" i="0" dirty="0">
                <a:solidFill>
                  <a:srgbClr val="008000"/>
                </a:solidFill>
                <a:effectLst/>
                <a:latin typeface="IRANSans"/>
              </a:rPr>
              <a:t>به صنعا درم طفلی اندر گذشت چه گویم کز آنم چه بر سر گذشت</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در این باغ سروی نیامد بلند که باد اجل بیخ عمرش نکند</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عجب نیست بر خاک اگر گل شکفت که چندین گل اندام در خاک خفت</a:t>
            </a:r>
            <a:endParaRPr lang="fa-IR" b="0" i="0" dirty="0">
              <a:solidFill>
                <a:srgbClr val="333333"/>
              </a:solidFill>
              <a:effectLst/>
              <a:latin typeface="IRANSans"/>
            </a:endParaRPr>
          </a:p>
          <a:p>
            <a:pPr algn="just" rtl="1">
              <a:spcAft>
                <a:spcPts val="1500"/>
              </a:spcAft>
              <a:buNone/>
            </a:pPr>
            <a:r>
              <a:rPr lang="fa-IR" b="0" i="0" dirty="0">
                <a:solidFill>
                  <a:srgbClr val="333333"/>
                </a:solidFill>
                <a:effectLst/>
                <a:latin typeface="IRANSans"/>
              </a:rPr>
              <a:t>خانواده سعدی از هم میپاشد و او دیگر جز به ادامه سفر نمی اندیشد تا شاید از اندوهی که در این شهر محصور در میان کوهها خفه اش میکند رهایی یابد، سعدی عازم مکه شده و بعد از انجام مناسک حج، عازم مصر میشود و بعد از چندی به دلیل شروع جنگ های صلیبی عازم تونس شد و بعد ار آرام شدن جنگ سعدی با کشتی به سمت شیراز راه افتاد که ابتدا در بیت المقدس توقفی کوتاه میکند و از آنجا به سوی دمشق می شود و در سایه امنیت شهر دمشق فرصت مطالعه و بحث با دانشمندان را نیز بدست آورد</a:t>
            </a:r>
          </a:p>
          <a:p>
            <a:pPr algn="just" rtl="1">
              <a:spcAft>
                <a:spcPts val="1500"/>
              </a:spcAft>
              <a:buNone/>
            </a:pPr>
            <a:r>
              <a:rPr lang="fa-IR" b="0" i="0" dirty="0">
                <a:solidFill>
                  <a:srgbClr val="333333"/>
                </a:solidFill>
                <a:effectLst/>
                <a:latin typeface="IRANSans"/>
              </a:rPr>
              <a:t>حال موقع بازگشت رسیده; سعدی رفته رفته خستگی و حسرت دیدار آسمان ایران را در دل خود احساس میکند</a:t>
            </a:r>
          </a:p>
          <a:p>
            <a:pPr algn="ctr" rtl="1">
              <a:spcAft>
                <a:spcPts val="1500"/>
              </a:spcAft>
              <a:buNone/>
            </a:pPr>
            <a:r>
              <a:rPr lang="fa-IR" b="0" i="0" dirty="0">
                <a:solidFill>
                  <a:srgbClr val="008000"/>
                </a:solidFill>
                <a:effectLst/>
                <a:latin typeface="IRANSans"/>
              </a:rPr>
              <a:t>در اقصای عالم بگشتم بسی بسر بردم ایام با هر کسی</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تمتع ز هر گوشه ای یافتم ز هر خرمی خوشه ای یافتم</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چو پاکان شیراز خاکی نهاد ندیدم که رحمت بر آن خاک باد</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تولای مردان این پاک بوم بر انگیختم خاطر از شام و روم</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دریغ آمدم زان همه بوستان تهیدست رفن بر دوستان</a:t>
            </a:r>
            <a:endParaRPr lang="fa-IR" b="0" i="0" dirty="0">
              <a:solidFill>
                <a:srgbClr val="333333"/>
              </a:solidFill>
              <a:effectLst/>
              <a:latin typeface="IRANSans"/>
            </a:endParaRPr>
          </a:p>
        </p:txBody>
      </p:sp>
      <p:pic>
        <p:nvPicPr>
          <p:cNvPr id="4" name="Picture 3">
            <a:hlinkClick r:id="" action="ppaction://hlinkshowjump?jump=nextslide"/>
            <a:extLst>
              <a:ext uri="{FF2B5EF4-FFF2-40B4-BE49-F238E27FC236}">
                <a16:creationId xmlns:a16="http://schemas.microsoft.com/office/drawing/2014/main" id="{D9135225-21DE-3326-C8E0-F4F637A19DB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7" name="Picture 6">
            <a:hlinkClick r:id="" action="ppaction://hlinkshowjump?jump=previousslide"/>
            <a:extLst>
              <a:ext uri="{FF2B5EF4-FFF2-40B4-BE49-F238E27FC236}">
                <a16:creationId xmlns:a16="http://schemas.microsoft.com/office/drawing/2014/main" id="{6AEFD692-E9B6-4846-931F-AA1755D4A579}"/>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Tree>
    <p:extLst>
      <p:ext uri="{BB962C8B-B14F-4D97-AF65-F5344CB8AC3E}">
        <p14:creationId xmlns:p14="http://schemas.microsoft.com/office/powerpoint/2010/main" val="3638807273"/>
      </p:ext>
    </p:extLst>
  </p:cSld>
  <p:clrMapOvr>
    <a:masterClrMapping/>
  </p:clrMapOvr>
  <p:transition advClick="0">
    <p:wheel spokes="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8A93F-D2C5-3F84-B4D9-E8FFA3D353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9FE4D6-C1FE-0C88-E69D-5C85D46D42C4}"/>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pic>
        <p:nvPicPr>
          <p:cNvPr id="2" name="Picture 1">
            <a:hlinkClick r:id="" action="ppaction://hlinkshowjump?jump=nextslide"/>
            <a:extLst>
              <a:ext uri="{FF2B5EF4-FFF2-40B4-BE49-F238E27FC236}">
                <a16:creationId xmlns:a16="http://schemas.microsoft.com/office/drawing/2014/main" id="{6BA5E55E-F156-FDD1-9F45-48F2AB33CE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4" name="Picture 3">
            <a:hlinkClick r:id="" action="ppaction://hlinkshowjump?jump=previousslide"/>
            <a:extLst>
              <a:ext uri="{FF2B5EF4-FFF2-40B4-BE49-F238E27FC236}">
                <a16:creationId xmlns:a16="http://schemas.microsoft.com/office/drawing/2014/main" id="{2979A7EC-6EC3-AAD2-C7D7-1D977E2548CE}"/>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
        <p:nvSpPr>
          <p:cNvPr id="7" name="TextBox 6">
            <a:extLst>
              <a:ext uri="{FF2B5EF4-FFF2-40B4-BE49-F238E27FC236}">
                <a16:creationId xmlns:a16="http://schemas.microsoft.com/office/drawing/2014/main" id="{DD245EE5-5DE9-5853-DF63-448E5AFD44F0}"/>
              </a:ext>
            </a:extLst>
          </p:cNvPr>
          <p:cNvSpPr txBox="1"/>
          <p:nvPr/>
        </p:nvSpPr>
        <p:spPr>
          <a:xfrm>
            <a:off x="475013" y="0"/>
            <a:ext cx="11716986" cy="3711272"/>
          </a:xfrm>
          <a:prstGeom prst="rect">
            <a:avLst/>
          </a:prstGeom>
          <a:noFill/>
        </p:spPr>
        <p:txBody>
          <a:bodyPr wrap="square">
            <a:spAutoFit/>
          </a:bodyPr>
          <a:lstStyle/>
          <a:p>
            <a:pPr algn="just" rtl="1">
              <a:spcBef>
                <a:spcPts val="1875"/>
              </a:spcBef>
              <a:spcAft>
                <a:spcPts val="750"/>
              </a:spcAft>
              <a:buNone/>
            </a:pPr>
            <a:r>
              <a:rPr lang="fa-IR" b="0" i="0" dirty="0">
                <a:solidFill>
                  <a:srgbClr val="003366"/>
                </a:solidFill>
                <a:effectLst/>
                <a:latin typeface="IRANSans"/>
              </a:rPr>
              <a:t>دوران کهولت سعدی</a:t>
            </a:r>
          </a:p>
          <a:p>
            <a:pPr algn="just" rtl="1">
              <a:spcAft>
                <a:spcPts val="1500"/>
              </a:spcAft>
              <a:buNone/>
            </a:pPr>
            <a:r>
              <a:rPr lang="fa-IR" b="0" i="0" dirty="0">
                <a:solidFill>
                  <a:srgbClr val="333333"/>
                </a:solidFill>
                <a:effectLst/>
                <a:latin typeface="IRANSans"/>
              </a:rPr>
              <a:t>سرانجام در حالی که قلب سعدی می‌تپید شیراز جلو چشمان او نمایان گشت و در واقع موقع تقاعد سعدی از مسافرت فرا رسیده بود، تقاعدی داوطلبانه و سرشار از سربلندی و مجاهدت تا این زمان زندگی سعدی فقط اشعاری بصورت مجزا سروده بود، در طی دو سال دو شاهکار شعر اخلاقی او یعنی بوستان در سال 636 و گلستان در سال بعد آن 637 خاتمه یافت که نام سعدی را جاودان کردند سعدی با خاطری آسوده به آرامی به پایان عمر خود نزدیک میشد. از مرگ بانیان عظیم الشان اندیش </a:t>
            </a:r>
            <a:r>
              <a:rPr lang="fa-IR" dirty="0">
                <a:solidFill>
                  <a:srgbClr val="333333"/>
                </a:solidFill>
                <a:latin typeface="IRANSans"/>
              </a:rPr>
              <a:t>ایرانی مانند خواجه نصیر الدین طوسی، شمس تبریزی، جلال الدین </a:t>
            </a:r>
            <a:r>
              <a:rPr lang="fa-IR" b="0" i="0" dirty="0">
                <a:solidFill>
                  <a:srgbClr val="333333"/>
                </a:solidFill>
                <a:effectLst/>
                <a:latin typeface="IRANSans"/>
              </a:rPr>
              <a:t>رومی دیری نمیگذشت و سعدی در میان شاعران موفق نسل جدید تنها به جا مانده بود از طرف دیگر به مرور که سعدی سالخرده تر میشد آشکار بود که تاثیر سخن او رفته رفته نه تنها در شیراز بلکه در دیگر شهر های ایران نیز به شعر فارسی رنگ و بویی تازه می بخشید.</a:t>
            </a:r>
          </a:p>
          <a:p>
            <a:pPr algn="just" rtl="1">
              <a:spcAft>
                <a:spcPts val="1500"/>
              </a:spcAft>
              <a:buNone/>
            </a:pPr>
            <a:r>
              <a:rPr lang="fa-IR" b="0" i="0" dirty="0">
                <a:solidFill>
                  <a:srgbClr val="333333"/>
                </a:solidFill>
                <a:effectLst/>
                <a:latin typeface="IRANSans"/>
              </a:rPr>
              <a:t>تاریخ وفات سعدی موضوعی بسیار مبهم و بحث انگیزست زیرا شرح حال نویسان دو تاریخ وفات برای او ترسیم کردند یکی 17 آذر 670 و دیگری ( بزرگانی مانند جامی ) مهر ماه سال 671 را تاریخ وفات این بزرگ مرد پارسی میدانند سعدی در بحبوحه اشتهار از دنیا رفت و شهرتی پایدار از خود بجا نهاد، وی از زندگی چیزی انتظار نداشت و تا میتوانست از زیاده طلبی پرهیز میکرد به این اکتفا مینمود که افتخاری برای شیراز زادگاه خود میراث بگذارد، شیراز نیز نبوغ شاعر خود را درک کرده بود. سعدی در نزدیکی بقعه خود در حومه شهر به خاک سپرده شد دیری نپایید که مرقد او زیارتگاه عشاق زبان و ادب پارسی شد.</a:t>
            </a:r>
          </a:p>
        </p:txBody>
      </p:sp>
      <p:sp>
        <p:nvSpPr>
          <p:cNvPr id="9" name="TextBox 8">
            <a:extLst>
              <a:ext uri="{FF2B5EF4-FFF2-40B4-BE49-F238E27FC236}">
                <a16:creationId xmlns:a16="http://schemas.microsoft.com/office/drawing/2014/main" id="{4554DAC5-1AFA-1AA9-81F3-91A5BBE86B12}"/>
              </a:ext>
            </a:extLst>
          </p:cNvPr>
          <p:cNvSpPr txBox="1"/>
          <p:nvPr/>
        </p:nvSpPr>
        <p:spPr>
          <a:xfrm>
            <a:off x="475013" y="3738986"/>
            <a:ext cx="11744282" cy="2049279"/>
          </a:xfrm>
          <a:prstGeom prst="rect">
            <a:avLst/>
          </a:prstGeom>
          <a:noFill/>
        </p:spPr>
        <p:txBody>
          <a:bodyPr wrap="square">
            <a:spAutoFit/>
          </a:bodyPr>
          <a:lstStyle/>
          <a:p>
            <a:pPr algn="just" rtl="1">
              <a:spcBef>
                <a:spcPts val="1875"/>
              </a:spcBef>
              <a:spcAft>
                <a:spcPts val="750"/>
              </a:spcAft>
              <a:buNone/>
            </a:pPr>
            <a:r>
              <a:rPr lang="fa-IR" b="0" i="0" dirty="0">
                <a:solidFill>
                  <a:srgbClr val="003366"/>
                </a:solidFill>
                <a:effectLst/>
                <a:latin typeface="IRANSans"/>
              </a:rPr>
              <a:t>اخلاق سعدی</a:t>
            </a:r>
          </a:p>
          <a:p>
            <a:pPr algn="just" rtl="1">
              <a:spcAft>
                <a:spcPts val="1500"/>
              </a:spcAft>
              <a:buNone/>
            </a:pPr>
            <a:r>
              <a:rPr lang="fa-IR" b="0" i="0" dirty="0">
                <a:solidFill>
                  <a:srgbClr val="333333"/>
                </a:solidFill>
                <a:effectLst/>
                <a:latin typeface="IRANSans"/>
              </a:rPr>
              <a:t>سعدی مانند لوکرس یا وینیی شاعر فیلسوف نیست. سعدی شاعری است که تعالیم اخلاقی میدهد، تعلیم دهنه اخلاقی به معنی دقیق کلمه، یعنی مصنفی است که رسوم و عادات و افعال و خلقیات معاصران خود را مورد مطالعه قرار میدهد.</a:t>
            </a:r>
          </a:p>
          <a:p>
            <a:pPr algn="just" rtl="1">
              <a:spcAft>
                <a:spcPts val="1500"/>
              </a:spcAft>
              <a:buNone/>
            </a:pPr>
            <a:r>
              <a:rPr lang="fa-IR" b="0" i="0" dirty="0">
                <a:solidFill>
                  <a:srgbClr val="333333"/>
                </a:solidFill>
                <a:effectLst/>
                <a:latin typeface="IRANSans"/>
              </a:rPr>
              <a:t>اما این اخلاق بیش از هر چیز حائز جنبه عملی است و در وهله اول باید همین جنبه عملی اخلاق سعدی را در نظر گرفت. سعدی پیش از آن انسان را بذاته مورد مطالعه قرار دهد به موضع گیری وی در برابر همنوعان مینگرد: خطاها و عیب ها را می بیند و به دور از هر نوع انتقاد نیشدار میکوشد در اشعار خو آداب و قوعاد بهتری را پیشنهاد دهد خود این موضوع را به کرات و آشکارا گوشزد میکند.</a:t>
            </a:r>
          </a:p>
        </p:txBody>
      </p:sp>
    </p:spTree>
    <p:extLst>
      <p:ext uri="{BB962C8B-B14F-4D97-AF65-F5344CB8AC3E}">
        <p14:creationId xmlns:p14="http://schemas.microsoft.com/office/powerpoint/2010/main" val="4282984476"/>
      </p:ext>
    </p:extLst>
  </p:cSld>
  <p:clrMapOvr>
    <a:masterClrMapping/>
  </p:clrMapOvr>
  <p:transition advClick="0">
    <p:wheel spokes="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4900-85C5-914B-679E-C190BD95DF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BF64F6-C476-63DD-07A7-144948ECFF2C}"/>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pic>
        <p:nvPicPr>
          <p:cNvPr id="2" name="Picture 1">
            <a:hlinkClick r:id="" action="ppaction://hlinkshowjump?jump=nextslide"/>
            <a:extLst>
              <a:ext uri="{FF2B5EF4-FFF2-40B4-BE49-F238E27FC236}">
                <a16:creationId xmlns:a16="http://schemas.microsoft.com/office/drawing/2014/main" id="{E791D389-FBB7-C9E4-08F6-AFAE6E5B02B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4" name="Picture 3">
            <a:hlinkClick r:id="" action="ppaction://hlinkshowjump?jump=previousslide"/>
            <a:extLst>
              <a:ext uri="{FF2B5EF4-FFF2-40B4-BE49-F238E27FC236}">
                <a16:creationId xmlns:a16="http://schemas.microsoft.com/office/drawing/2014/main" id="{7D137926-B7A3-A243-EBCC-5D845E8EF058}"/>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
        <p:nvSpPr>
          <p:cNvPr id="6" name="TextBox 5">
            <a:extLst>
              <a:ext uri="{FF2B5EF4-FFF2-40B4-BE49-F238E27FC236}">
                <a16:creationId xmlns:a16="http://schemas.microsoft.com/office/drawing/2014/main" id="{65C67395-B2C6-15A0-3FEF-E867B12A4116}"/>
              </a:ext>
            </a:extLst>
          </p:cNvPr>
          <p:cNvSpPr txBox="1"/>
          <p:nvPr/>
        </p:nvSpPr>
        <p:spPr>
          <a:xfrm>
            <a:off x="475013" y="0"/>
            <a:ext cx="11716986" cy="5109091"/>
          </a:xfrm>
          <a:prstGeom prst="rect">
            <a:avLst/>
          </a:prstGeom>
          <a:noFill/>
        </p:spPr>
        <p:txBody>
          <a:bodyPr wrap="square">
            <a:spAutoFit/>
          </a:bodyPr>
          <a:lstStyle/>
          <a:p>
            <a:pPr algn="ctr" rtl="1">
              <a:spcAft>
                <a:spcPts val="1500"/>
              </a:spcAft>
              <a:buNone/>
            </a:pPr>
            <a:r>
              <a:rPr lang="fa-IR" b="0" i="0" dirty="0">
                <a:solidFill>
                  <a:srgbClr val="008000"/>
                </a:solidFill>
                <a:effectLst/>
                <a:latin typeface="IRANSans"/>
              </a:rPr>
              <a:t>اگر در سرای سعادت کس است ز گفتار سعدیش حرفی بس است</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پند سعدی به گوش جان بشنو ره چنین است مرد باش و برو</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سخن سودمند است اگر بشنوی به مردان رسی گر طریقت روی</a:t>
            </a:r>
            <a:endParaRPr lang="fa-IR" b="0" i="0" dirty="0">
              <a:solidFill>
                <a:srgbClr val="333333"/>
              </a:solidFill>
              <a:effectLst/>
              <a:latin typeface="IRANSans"/>
            </a:endParaRPr>
          </a:p>
          <a:p>
            <a:pPr algn="just" rtl="1">
              <a:spcAft>
                <a:spcPts val="1500"/>
              </a:spcAft>
              <a:buNone/>
            </a:pPr>
            <a:r>
              <a:rPr lang="fa-IR" b="0" i="0" dirty="0">
                <a:solidFill>
                  <a:srgbClr val="333333"/>
                </a:solidFill>
                <a:effectLst/>
                <a:latin typeface="IRANSans"/>
              </a:rPr>
              <a:t>اما سخنان سعدی مثال است و پند، خواننده باید پند را در بین سطور حکایات جستجو کند. از این پندهای گوناگون یک فاسفه عملی حاصل میشود که بواقع اندک مبهم و دشوار یاب است ولی کامل بر این اخلاق که به آدم طرز رفتار در برابر همنوعان را تعلیم میدهد&amp; یک رشته نکات روان شناختی نیز افزوده میشود که سیمای انسان آرمانی سعدی را میسر می‌سازد و چون فرد بی ایمان به آفریدگار همیشه بشری ناقص است بنابراین سعدی بارها مساله ارتباط بین انسان و خداوند رو طرح می‌کند.</a:t>
            </a:r>
          </a:p>
          <a:p>
            <a:pPr algn="just" rtl="1">
              <a:spcBef>
                <a:spcPts val="1875"/>
              </a:spcBef>
              <a:spcAft>
                <a:spcPts val="750"/>
              </a:spcAft>
              <a:buNone/>
            </a:pPr>
            <a:r>
              <a:rPr lang="fa-IR" b="0" i="0" dirty="0">
                <a:solidFill>
                  <a:srgbClr val="003366"/>
                </a:solidFill>
                <a:effectLst/>
                <a:latin typeface="IRANSans"/>
              </a:rPr>
              <a:t>سبک شعری سعدی</a:t>
            </a:r>
          </a:p>
          <a:p>
            <a:pPr algn="just" rtl="1">
              <a:spcAft>
                <a:spcPts val="1500"/>
              </a:spcAft>
              <a:buNone/>
            </a:pPr>
            <a:r>
              <a:rPr lang="fa-IR" b="0" i="0" dirty="0">
                <a:solidFill>
                  <a:srgbClr val="333333"/>
                </a:solidFill>
                <a:effectLst/>
                <a:latin typeface="IRANSans"/>
              </a:rPr>
              <a:t>شیوه اصلی ترکیب کلام سعدی چنین به نظر می آید: نخست یک حقیقت اخلاقی را بیان میکند سپس آن را با یک سلسله تمثیلها بنوعی مجسم می‌سازد.</a:t>
            </a:r>
          </a:p>
          <a:p>
            <a:pPr algn="ctr" rtl="1">
              <a:spcAft>
                <a:spcPts val="1500"/>
              </a:spcAft>
              <a:buNone/>
            </a:pPr>
            <a:r>
              <a:rPr lang="fa-IR" b="0" i="0" dirty="0">
                <a:solidFill>
                  <a:srgbClr val="008000"/>
                </a:solidFill>
                <a:effectLst/>
                <a:latin typeface="IRANSans"/>
              </a:rPr>
              <a:t>عدو را بکوچک نباید شمرد که کوه کلان دیدم از سنگ خرد</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نبینی که چون باهم آیند مور ز شیران جنگی برارند شور</a:t>
            </a:r>
            <a:endParaRPr lang="fa-IR" b="0" i="0" dirty="0">
              <a:solidFill>
                <a:srgbClr val="333333"/>
              </a:solidFill>
              <a:effectLst/>
              <a:latin typeface="IRANSans"/>
            </a:endParaRPr>
          </a:p>
          <a:p>
            <a:pPr algn="ctr" rtl="1">
              <a:spcAft>
                <a:spcPts val="1500"/>
              </a:spcAft>
              <a:buNone/>
            </a:pPr>
            <a:r>
              <a:rPr lang="fa-IR" b="0" i="0" dirty="0">
                <a:solidFill>
                  <a:srgbClr val="008000"/>
                </a:solidFill>
                <a:effectLst/>
                <a:latin typeface="IRANSans"/>
              </a:rPr>
              <a:t>نه موری، که مویی کزان کمتر است چو پر شد ز زنجیر محکم ترست</a:t>
            </a:r>
            <a:endParaRPr lang="fa-IR" b="0" i="0" dirty="0">
              <a:solidFill>
                <a:srgbClr val="333333"/>
              </a:solidFill>
              <a:effectLst/>
              <a:latin typeface="IRANSans"/>
            </a:endParaRPr>
          </a:p>
        </p:txBody>
      </p:sp>
    </p:spTree>
    <p:extLst>
      <p:ext uri="{BB962C8B-B14F-4D97-AF65-F5344CB8AC3E}">
        <p14:creationId xmlns:p14="http://schemas.microsoft.com/office/powerpoint/2010/main" val="764882625"/>
      </p:ext>
    </p:extLst>
  </p:cSld>
  <p:clrMapOvr>
    <a:masterClrMapping/>
  </p:clrMapOvr>
  <p:transition advClick="0">
    <p:wheel spokes="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25A7-C096-2E94-7D4E-A901730A7D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DE4FE2-6683-5598-51D5-0045D4A63F3F}"/>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pic>
        <p:nvPicPr>
          <p:cNvPr id="2" name="Picture 1">
            <a:hlinkClick r:id="" action="ppaction://hlinkshowjump?jump=nextslide"/>
            <a:extLst>
              <a:ext uri="{FF2B5EF4-FFF2-40B4-BE49-F238E27FC236}">
                <a16:creationId xmlns:a16="http://schemas.microsoft.com/office/drawing/2014/main" id="{A4B59FFA-51EF-97AE-FA80-4708268F57B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4" name="Picture 3">
            <a:hlinkClick r:id="" action="ppaction://hlinkshowjump?jump=previousslide"/>
            <a:extLst>
              <a:ext uri="{FF2B5EF4-FFF2-40B4-BE49-F238E27FC236}">
                <a16:creationId xmlns:a16="http://schemas.microsoft.com/office/drawing/2014/main" id="{9DA2CB48-A22D-EEBC-47DB-6EE4538E4281}"/>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pic>
        <p:nvPicPr>
          <p:cNvPr id="7" name="Picture 6">
            <a:extLst>
              <a:ext uri="{FF2B5EF4-FFF2-40B4-BE49-F238E27FC236}">
                <a16:creationId xmlns:a16="http://schemas.microsoft.com/office/drawing/2014/main" id="{D0FDC9B4-38F1-5BD9-5144-0344A5D4449F}"/>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7600" b="94800" l="26552" r="57069">
                        <a14:foregroundMark x1="44138" y1="7600" x2="29655" y2="9600"/>
                        <a14:foregroundMark x1="36207" y1="68800" x2="48966" y2="76000"/>
                        <a14:foregroundMark x1="48966" y1="76000" x2="41724" y2="94800"/>
                        <a14:foregroundMark x1="41724" y1="94800" x2="34483" y2="94800"/>
                        <a14:foregroundMark x1="34483" y1="94800" x2="31552" y2="92400"/>
                      </a14:backgroundRemoval>
                    </a14:imgEffect>
                  </a14:imgLayer>
                </a14:imgProps>
              </a:ext>
              <a:ext uri="{28A0092B-C50C-407E-A947-70E740481C1C}">
                <a14:useLocalDpi xmlns:a14="http://schemas.microsoft.com/office/drawing/2010/main" val="0"/>
              </a:ext>
            </a:extLst>
          </a:blip>
          <a:srcRect l="22825" r="39007"/>
          <a:stretch>
            <a:fillRect/>
          </a:stretch>
        </p:blipFill>
        <p:spPr>
          <a:xfrm>
            <a:off x="9585475" y="0"/>
            <a:ext cx="2811439" cy="3175000"/>
          </a:xfrm>
          <a:prstGeom prst="rect">
            <a:avLst/>
          </a:prstGeom>
        </p:spPr>
      </p:pic>
      <p:sp>
        <p:nvSpPr>
          <p:cNvPr id="9" name="TextBox 8">
            <a:extLst>
              <a:ext uri="{FF2B5EF4-FFF2-40B4-BE49-F238E27FC236}">
                <a16:creationId xmlns:a16="http://schemas.microsoft.com/office/drawing/2014/main" id="{3A36EB87-4D0E-3341-1F6C-A72F91368423}"/>
              </a:ext>
            </a:extLst>
          </p:cNvPr>
          <p:cNvSpPr txBox="1"/>
          <p:nvPr/>
        </p:nvSpPr>
        <p:spPr>
          <a:xfrm>
            <a:off x="475013" y="102478"/>
            <a:ext cx="9110462" cy="2970044"/>
          </a:xfrm>
          <a:prstGeom prst="rect">
            <a:avLst/>
          </a:prstGeom>
          <a:noFill/>
        </p:spPr>
        <p:txBody>
          <a:bodyPr wrap="square">
            <a:spAutoFit/>
          </a:bodyPr>
          <a:lstStyle/>
          <a:p>
            <a:pPr algn="just" rtl="1">
              <a:spcAft>
                <a:spcPts val="1500"/>
              </a:spcAft>
              <a:buNone/>
            </a:pPr>
            <a:r>
              <a:rPr lang="fa-IR" b="0" i="0" dirty="0">
                <a:solidFill>
                  <a:srgbClr val="333333"/>
                </a:solidFill>
                <a:effectLst/>
                <a:latin typeface="IRANSans"/>
              </a:rPr>
              <a:t>گاهی نیز بر عکس، تصویر حکایت از برای تجسم یک اندیشه به کار میرود حتی غالبا از یک داستان ساده یا خاطره ساده جوانی یک اندیشه عارفانه بدست می آید که اصلا انتظار نمیرفت سعدی گاه نیز شیوه تضاد را در پیش میگیرد ومیداند که چگونه تاثیر جملات کوتاه و دقیق را بیشتر سازد « مثلا در گلستان چنین مینویسد: هرگز از دور زمان ننالیدم و روی از گردش آسمان در هم نکشیدم مگر وقتی که پایم برهنه ماند بود و استطاعت پاپوشی نداشتم به جامع کوفه در آمدم دلتنگ یکی را دیدم پا نداشت. سپاس نعمت حق بجا آوردم و بر بی کفشی صبر کردم»</a:t>
            </a:r>
          </a:p>
          <a:p>
            <a:pPr algn="just" rtl="1">
              <a:spcAft>
                <a:spcPts val="1500"/>
              </a:spcAft>
              <a:buNone/>
            </a:pPr>
            <a:r>
              <a:rPr lang="fa-IR" b="0" i="0" dirty="0">
                <a:solidFill>
                  <a:srgbClr val="333333"/>
                </a:solidFill>
                <a:effectLst/>
                <a:latin typeface="IRANSans"/>
              </a:rPr>
              <a:t>شیوه دیگر سعدی این است که اندیشه را مطرح میکند ودلائل موافق و مخالف را باهم بیان میکند « مثلا در پند نامه پس از ستایش کرم و سخاوت بلافاصله انتقاد از بخل شروع می‌شود »</a:t>
            </a:r>
          </a:p>
          <a:p>
            <a:pPr algn="just" rtl="1">
              <a:spcAft>
                <a:spcPts val="1500"/>
              </a:spcAft>
              <a:buNone/>
            </a:pPr>
            <a:r>
              <a:rPr lang="fa-IR" b="0" i="0" dirty="0">
                <a:solidFill>
                  <a:srgbClr val="333333"/>
                </a:solidFill>
                <a:effectLst/>
                <a:latin typeface="IRANSans"/>
              </a:rPr>
              <a:t>یا اینکه موضوع را میان دو شخص مورد بحث قرار میدهد ودلائل موفق و مخالفرا مطرح میسازد « مثلا حکایت مناظره پدر و پسر درباره منافع و مضرات سفر »</a:t>
            </a:r>
          </a:p>
        </p:txBody>
      </p:sp>
      <p:sp>
        <p:nvSpPr>
          <p:cNvPr id="11" name="TextBox 10">
            <a:extLst>
              <a:ext uri="{FF2B5EF4-FFF2-40B4-BE49-F238E27FC236}">
                <a16:creationId xmlns:a16="http://schemas.microsoft.com/office/drawing/2014/main" id="{F2290137-E81F-3907-2308-B7DA5779EB33}"/>
              </a:ext>
            </a:extLst>
          </p:cNvPr>
          <p:cNvSpPr txBox="1"/>
          <p:nvPr/>
        </p:nvSpPr>
        <p:spPr>
          <a:xfrm>
            <a:off x="502309" y="3410184"/>
            <a:ext cx="11689690" cy="1946687"/>
          </a:xfrm>
          <a:prstGeom prst="rect">
            <a:avLst/>
          </a:prstGeom>
          <a:noFill/>
        </p:spPr>
        <p:txBody>
          <a:bodyPr wrap="square">
            <a:spAutoFit/>
          </a:bodyPr>
          <a:lstStyle/>
          <a:p>
            <a:pPr algn="just">
              <a:spcAft>
                <a:spcPts val="1500"/>
              </a:spcAft>
              <a:buNone/>
            </a:pPr>
            <a:r>
              <a:rPr lang="fa-IR" b="0" i="0" dirty="0">
                <a:solidFill>
                  <a:srgbClr val="333333"/>
                </a:solidFill>
                <a:effectLst/>
                <a:latin typeface="IRANSans"/>
              </a:rPr>
              <a:t>اما در مورد اشخاص داستان، سعدی با شیوه ای که رایحه قرون وسطی از آن به مشام می‌رسد نه تنها افراد بشر و زنده ها را بسخن در می آورد بلکه حیوانات و حتی اشیا را نیز به حرف زدن وا می‌دارد « مانند گفتگوی فرح انگیز طوطی و زاغ و مباحثه ایی میان رایت و پرده قصر در گلستان »</a:t>
            </a:r>
          </a:p>
          <a:p>
            <a:pPr algn="just">
              <a:spcAft>
                <a:spcPts val="1500"/>
              </a:spcAft>
              <a:buNone/>
            </a:pPr>
            <a:r>
              <a:rPr lang="fa-IR" b="0" i="0" dirty="0">
                <a:solidFill>
                  <a:srgbClr val="333333"/>
                </a:solidFill>
                <a:effectLst/>
                <a:latin typeface="IRANSans"/>
              </a:rPr>
              <a:t>تمام لذت سبک سعدی از پیوند اندیشه ها با هم سر چشمه میگیرد و این لذت به اندازه ایی عالی است که حتی ترجمه نیز ان را از بین نمیبرد. این پیوند خشک و انتزاعی نیست بلکه یک اندیشه است که با تصویر تحقق یافته است ، اندیشه و تصویر چنان با هم آمیخته است که خواننده از خود میپرسد آیا امکان دارد اندیشه ای بدون تصویری ملموس به مغز سعدی خطور کرده باشد در آثار سعدی قسمت‎های بسیاری دیده شده، که در آنها تصویر و اندیشه در می آمیزد و حتی چنان با اندیشه آمیخته می‌شود که تصویر تبدیل به همان اندیشه می‌شود.</a:t>
            </a:r>
          </a:p>
        </p:txBody>
      </p:sp>
    </p:spTree>
    <p:extLst>
      <p:ext uri="{BB962C8B-B14F-4D97-AF65-F5344CB8AC3E}">
        <p14:creationId xmlns:p14="http://schemas.microsoft.com/office/powerpoint/2010/main" val="1549040785"/>
      </p:ext>
    </p:extLst>
  </p:cSld>
  <p:clrMapOvr>
    <a:masterClrMapping/>
  </p:clrMapOvr>
  <p:transition advClick="0">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7753-CA11-34A9-497A-513D5DB41D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4191F19-1F0C-C0E1-4176-0C1C873637F7}"/>
              </a:ext>
            </a:extLst>
          </p:cNvPr>
          <p:cNvPicPr>
            <a:picLocks noChangeAspect="1"/>
          </p:cNvPicPr>
          <p:nvPr/>
        </p:nvPicPr>
        <p:blipFill>
          <a:blip r:embed="rId2">
            <a:extLst>
              <a:ext uri="{28A0092B-C50C-407E-A947-70E740481C1C}">
                <a14:useLocalDpi xmlns:a14="http://schemas.microsoft.com/office/drawing/2010/main" val="0"/>
              </a:ext>
            </a:extLst>
          </a:blip>
          <a:srcRect r="91510" b="1703"/>
          <a:stretch>
            <a:fillRect/>
          </a:stretch>
        </p:blipFill>
        <p:spPr>
          <a:xfrm>
            <a:off x="1" y="0"/>
            <a:ext cx="475012" cy="6858000"/>
          </a:xfrm>
          <a:prstGeom prst="rect">
            <a:avLst/>
          </a:prstGeom>
        </p:spPr>
      </p:pic>
      <p:sp>
        <p:nvSpPr>
          <p:cNvPr id="6" name="TextBox 5">
            <a:extLst>
              <a:ext uri="{FF2B5EF4-FFF2-40B4-BE49-F238E27FC236}">
                <a16:creationId xmlns:a16="http://schemas.microsoft.com/office/drawing/2014/main" id="{A0256B0E-2E4B-E1A6-016C-EE79DF7F3CDA}"/>
              </a:ext>
            </a:extLst>
          </p:cNvPr>
          <p:cNvSpPr txBox="1"/>
          <p:nvPr/>
        </p:nvSpPr>
        <p:spPr>
          <a:xfrm>
            <a:off x="475013" y="0"/>
            <a:ext cx="11716986" cy="4588436"/>
          </a:xfrm>
          <a:prstGeom prst="rect">
            <a:avLst/>
          </a:prstGeom>
          <a:noFill/>
        </p:spPr>
        <p:txBody>
          <a:bodyPr wrap="square">
            <a:spAutoFit/>
          </a:bodyPr>
          <a:lstStyle/>
          <a:p>
            <a:pPr algn="just" rtl="1">
              <a:spcBef>
                <a:spcPts val="1875"/>
              </a:spcBef>
              <a:spcAft>
                <a:spcPts val="750"/>
              </a:spcAft>
              <a:buNone/>
            </a:pPr>
            <a:r>
              <a:rPr lang="fa-IR" b="1" i="0" dirty="0">
                <a:solidFill>
                  <a:srgbClr val="003366"/>
                </a:solidFill>
                <a:effectLst/>
                <a:latin typeface="IRANSans"/>
              </a:rPr>
              <a:t>ثار سعدی</a:t>
            </a:r>
            <a:endParaRPr lang="fa-IR" b="0" i="0" dirty="0">
              <a:solidFill>
                <a:srgbClr val="003366"/>
              </a:solidFill>
              <a:effectLst/>
              <a:latin typeface="IRANSans"/>
            </a:endParaRPr>
          </a:p>
          <a:p>
            <a:pPr algn="just" rtl="1">
              <a:spcAft>
                <a:spcPts val="1500"/>
              </a:spcAft>
              <a:buNone/>
            </a:pPr>
            <a:r>
              <a:rPr lang="fa-IR" b="0" i="0" dirty="0">
                <a:solidFill>
                  <a:srgbClr val="333333"/>
                </a:solidFill>
                <a:effectLst/>
                <a:latin typeface="IRANSans"/>
              </a:rPr>
              <a:t>در دوران زندگی سعدی آثار بسیاری در نظم و نثر برجای مانده‌است:</a:t>
            </a:r>
          </a:p>
          <a:p>
            <a:pPr algn="just" rtl="1">
              <a:spcAft>
                <a:spcPts val="1500"/>
              </a:spcAft>
              <a:buNone/>
            </a:pPr>
            <a:r>
              <a:rPr lang="fa-IR" b="0" i="0" dirty="0">
                <a:solidFill>
                  <a:srgbClr val="333333"/>
                </a:solidFill>
                <a:effectLst/>
                <a:latin typeface="IRANSans"/>
              </a:rPr>
              <a:t>1- </a:t>
            </a:r>
            <a:r>
              <a:rPr lang="fa-IR" b="1" i="0" dirty="0">
                <a:solidFill>
                  <a:srgbClr val="333333"/>
                </a:solidFill>
                <a:effectLst/>
                <a:latin typeface="IRANSans"/>
              </a:rPr>
              <a:t>بوستان:</a:t>
            </a:r>
            <a:r>
              <a:rPr lang="fa-IR" b="0" i="0" dirty="0">
                <a:solidFill>
                  <a:srgbClr val="333333"/>
                </a:solidFill>
                <a:effectLst/>
                <a:latin typeface="IRANSans"/>
              </a:rPr>
              <a:t> کتابی‌است منظوم در اخلاق.</a:t>
            </a:r>
          </a:p>
          <a:p>
            <a:pPr algn="just" rtl="1">
              <a:spcAft>
                <a:spcPts val="1500"/>
              </a:spcAft>
              <a:buNone/>
            </a:pPr>
            <a:r>
              <a:rPr lang="fa-IR" b="0" i="0" dirty="0">
                <a:solidFill>
                  <a:srgbClr val="333333"/>
                </a:solidFill>
                <a:effectLst/>
                <a:latin typeface="IRANSans"/>
              </a:rPr>
              <a:t>2- </a:t>
            </a:r>
            <a:r>
              <a:rPr lang="fa-IR" b="1" i="0" dirty="0">
                <a:solidFill>
                  <a:srgbClr val="333333"/>
                </a:solidFill>
                <a:effectLst/>
                <a:latin typeface="IRANSans"/>
              </a:rPr>
              <a:t>گلستان</a:t>
            </a:r>
            <a:r>
              <a:rPr lang="fa-IR" b="0" i="0" dirty="0">
                <a:solidFill>
                  <a:srgbClr val="333333"/>
                </a:solidFill>
                <a:effectLst/>
                <a:latin typeface="IRANSans"/>
              </a:rPr>
              <a:t>: به نثر مسجع.</a:t>
            </a:r>
          </a:p>
          <a:p>
            <a:pPr algn="just" rtl="1">
              <a:spcAft>
                <a:spcPts val="1500"/>
              </a:spcAft>
              <a:buNone/>
            </a:pPr>
            <a:r>
              <a:rPr lang="fa-IR" b="0" i="0" dirty="0">
                <a:solidFill>
                  <a:srgbClr val="333333"/>
                </a:solidFill>
                <a:effectLst/>
                <a:latin typeface="IRANSans"/>
              </a:rPr>
              <a:t>3- </a:t>
            </a:r>
            <a:r>
              <a:rPr lang="fa-IR" b="1" i="0" dirty="0">
                <a:solidFill>
                  <a:srgbClr val="333333"/>
                </a:solidFill>
                <a:effectLst/>
                <a:latin typeface="IRANSans"/>
              </a:rPr>
              <a:t>دیوان اشعار</a:t>
            </a:r>
            <a:r>
              <a:rPr lang="fa-IR" b="0" i="0" dirty="0">
                <a:solidFill>
                  <a:srgbClr val="333333"/>
                </a:solidFill>
                <a:effectLst/>
                <a:latin typeface="IRANSans"/>
              </a:rPr>
              <a:t>: شامل غزلیات و قصاید و رباعیات و مثنویات و </a:t>
            </a:r>
            <a:r>
              <a:rPr lang="fa-IR" dirty="0">
                <a:solidFill>
                  <a:srgbClr val="333333"/>
                </a:solidFill>
                <a:latin typeface="IRANSans"/>
              </a:rPr>
              <a:t>مفردات و ترجیع‌بند و غیره (به فارسی) و چندین قصیده و </a:t>
            </a:r>
            <a:r>
              <a:rPr lang="fa-IR" b="0" i="0" dirty="0">
                <a:solidFill>
                  <a:srgbClr val="333333"/>
                </a:solidFill>
                <a:effectLst/>
                <a:latin typeface="IRANSans"/>
              </a:rPr>
              <a:t>غزل عربی.</a:t>
            </a:r>
          </a:p>
          <a:p>
            <a:pPr algn="just" rtl="1">
              <a:spcAft>
                <a:spcPts val="1500"/>
              </a:spcAft>
              <a:buNone/>
            </a:pPr>
            <a:r>
              <a:rPr lang="fa-IR" b="0" i="0" dirty="0">
                <a:solidFill>
                  <a:srgbClr val="333333"/>
                </a:solidFill>
                <a:effectLst/>
                <a:latin typeface="IRANSans"/>
              </a:rPr>
              <a:t>4- </a:t>
            </a:r>
            <a:r>
              <a:rPr lang="fa-IR" b="1" i="0" dirty="0">
                <a:solidFill>
                  <a:srgbClr val="333333"/>
                </a:solidFill>
                <a:effectLst/>
                <a:latin typeface="IRANSans"/>
              </a:rPr>
              <a:t>صاحبیه</a:t>
            </a:r>
            <a:r>
              <a:rPr lang="fa-IR" b="0" i="0" dirty="0">
                <a:solidFill>
                  <a:srgbClr val="333333"/>
                </a:solidFill>
                <a:effectLst/>
                <a:latin typeface="IRANSans"/>
              </a:rPr>
              <a:t>: مجموعه چند قطعه فارسی و عربی‌است که سعدی در ستایش شمس‌الدین صاحب دیوان جوینی، وزیر اتابکان سروده‌است.</a:t>
            </a:r>
          </a:p>
          <a:p>
            <a:pPr algn="just" rtl="1">
              <a:spcAft>
                <a:spcPts val="1500"/>
              </a:spcAft>
              <a:buNone/>
            </a:pPr>
            <a:r>
              <a:rPr lang="fa-IR" b="0" i="0" dirty="0">
                <a:solidFill>
                  <a:srgbClr val="333333"/>
                </a:solidFill>
                <a:effectLst/>
                <a:latin typeface="IRANSans"/>
              </a:rPr>
              <a:t>5- </a:t>
            </a:r>
            <a:r>
              <a:rPr lang="fa-IR" b="1" i="0" dirty="0">
                <a:solidFill>
                  <a:srgbClr val="333333"/>
                </a:solidFill>
                <a:effectLst/>
                <a:latin typeface="IRANSans"/>
              </a:rPr>
              <a:t>قصاید سعدی</a:t>
            </a:r>
            <a:r>
              <a:rPr lang="fa-IR" b="0" i="0" dirty="0">
                <a:solidFill>
                  <a:srgbClr val="333333"/>
                </a:solidFill>
                <a:effectLst/>
                <a:latin typeface="IRANSans"/>
              </a:rPr>
              <a:t>: قصاید عربی سعدی حدود هفتصد بیت است که بیشتر محتوای آن غنا، مدح، اندرز و مرثیه‌است. قصاید فارسی در ستایش پروردگار و مدح و اندرز و نصیحت بزرگان و پادشاهان آمده‌است.</a:t>
            </a:r>
          </a:p>
          <a:p>
            <a:pPr algn="just" rtl="1">
              <a:spcAft>
                <a:spcPts val="1500"/>
              </a:spcAft>
              <a:buNone/>
            </a:pPr>
            <a:r>
              <a:rPr lang="fa-IR" b="0" i="0" dirty="0">
                <a:solidFill>
                  <a:srgbClr val="333333"/>
                </a:solidFill>
                <a:effectLst/>
                <a:latin typeface="IRANSans"/>
              </a:rPr>
              <a:t>6- </a:t>
            </a:r>
            <a:r>
              <a:rPr lang="fa-IR" b="1" i="0" dirty="0">
                <a:solidFill>
                  <a:srgbClr val="333333"/>
                </a:solidFill>
                <a:effectLst/>
                <a:latin typeface="IRANSans"/>
              </a:rPr>
              <a:t>مراثی سعدی</a:t>
            </a:r>
            <a:r>
              <a:rPr lang="fa-IR" b="0" i="0" dirty="0">
                <a:solidFill>
                  <a:srgbClr val="333333"/>
                </a:solidFill>
                <a:effectLst/>
                <a:latin typeface="IRANSans"/>
              </a:rPr>
              <a:t>: قصاید بلند سعدی است که بیشتر آن در رثای آخرین خلیفه عباسی المستعصم بالله سروده شده‌است و در آن هلاکوخان مغول را به خاطر قتل خلیفه عباسی نکوهش کرده‌است.سعدی چند چکامه نیز در رثای برخی اتابکان فارس و وزرای ایشان سروده‌است.</a:t>
            </a:r>
          </a:p>
          <a:p>
            <a:pPr algn="just" rtl="1">
              <a:spcAft>
                <a:spcPts val="1500"/>
              </a:spcAft>
              <a:buNone/>
            </a:pPr>
            <a:r>
              <a:rPr lang="fa-IR" b="0" i="0" dirty="0">
                <a:solidFill>
                  <a:srgbClr val="333333"/>
                </a:solidFill>
                <a:effectLst/>
                <a:latin typeface="IRANSans"/>
              </a:rPr>
              <a:t>7- </a:t>
            </a:r>
            <a:r>
              <a:rPr lang="fa-IR" b="1" i="0" dirty="0">
                <a:solidFill>
                  <a:srgbClr val="333333"/>
                </a:solidFill>
                <a:effectLst/>
                <a:latin typeface="IRANSans"/>
              </a:rPr>
              <a:t>مفردات سعدی</a:t>
            </a:r>
            <a:r>
              <a:rPr lang="fa-IR" b="0" i="0" dirty="0">
                <a:solidFill>
                  <a:srgbClr val="333333"/>
                </a:solidFill>
                <a:effectLst/>
                <a:latin typeface="IRANSans"/>
              </a:rPr>
              <a:t>: مفردات سعدی شامل مفردات و مفردات در رابطه با پند و اخلاق است.</a:t>
            </a:r>
          </a:p>
        </p:txBody>
      </p:sp>
      <p:pic>
        <p:nvPicPr>
          <p:cNvPr id="8" name="Picture 7">
            <a:hlinkClick r:id="" action="ppaction://hlinkshowjump?jump=nextslide"/>
            <a:extLst>
              <a:ext uri="{FF2B5EF4-FFF2-40B4-BE49-F238E27FC236}">
                <a16:creationId xmlns:a16="http://schemas.microsoft.com/office/drawing/2014/main" id="{8065A072-4ECC-229B-69D5-8586E2694D9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5172" b="67326" l="52500" r="91615">
                        <a14:foregroundMark x1="57292" y1="47034" x2="57292" y2="47034"/>
                        <a14:foregroundMark x1="57292" y1="47034" x2="57292" y2="47034"/>
                        <a14:foregroundMark x1="57292" y1="47034" x2="57292" y2="47034"/>
                        <a14:foregroundMark x1="59740" y1="47971" x2="63333" y2="49116"/>
                        <a14:foregroundMark x1="63333" y1="49116" x2="70365" y2="50364"/>
                        <a14:foregroundMark x1="70938" y1="51197" x2="68594" y2="54422"/>
                        <a14:foregroundMark x1="68594" y1="54422" x2="68125" y2="54422"/>
                        <a14:foregroundMark x1="66458" y1="54422" x2="64010" y2="54422"/>
                        <a14:foregroundMark x1="62292" y1="54527" x2="60885" y2="54527"/>
                        <a14:foregroundMark x1="60104" y1="54527" x2="58802" y2="54527"/>
                        <a14:foregroundMark x1="57708" y1="53590" x2="57135" y2="52445"/>
                        <a14:foregroundMark x1="56354" y1="49324" x2="55937" y2="47867"/>
                        <a14:foregroundMark x1="55833" y1="45473" x2="55833" y2="42248"/>
                        <a14:foregroundMark x1="55990" y1="39126" x2="57552" y2="36733"/>
                        <a14:foregroundMark x1="59375" y1="35692" x2="61458" y2="35692"/>
                        <a14:foregroundMark x1="63594" y1="36837" x2="65573" y2="37981"/>
                        <a14:foregroundMark x1="68073" y1="38710" x2="69583" y2="39126"/>
                        <a14:foregroundMark x1="72760" y1="39230" x2="74531" y2="39230"/>
                        <a14:foregroundMark x1="78438" y1="39542" x2="79792" y2="40166"/>
                        <a14:foregroundMark x1="82240" y1="41623" x2="83125" y2="42144"/>
                        <a14:foregroundMark x1="86667" y1="43913" x2="86667" y2="43913"/>
                        <a14:foregroundMark x1="86667" y1="45786" x2="85156" y2="52133"/>
                        <a14:foregroundMark x1="86354" y1="48283" x2="83750" y2="54943"/>
                        <a14:foregroundMark x1="83750" y1="54943" x2="79948" y2="55983"/>
                        <a14:foregroundMark x1="80885" y1="54422" x2="87500" y2="51509"/>
                        <a14:foregroundMark x1="87500" y1="51509" x2="90313" y2="52029"/>
                        <a14:foregroundMark x1="90313" y1="53278" x2="89115" y2="60146"/>
                        <a14:foregroundMark x1="89115" y1="59834" x2="89115" y2="58169"/>
                        <a14:foregroundMark x1="89115" y1="58065" x2="89115" y2="58065"/>
                        <a14:foregroundMark x1="89115" y1="58065" x2="89115" y2="58065"/>
                        <a14:foregroundMark x1="88958" y1="57544" x2="89479" y2="47034"/>
                        <a14:foregroundMark x1="89479" y1="47034" x2="87760" y2="39750"/>
                        <a14:foregroundMark x1="87760" y1="39750" x2="87760" y2="39750"/>
                        <a14:foregroundMark x1="81146" y1="37149" x2="55260" y2="39646"/>
                        <a14:foregroundMark x1="55260" y1="39646" x2="53594" y2="49011"/>
                        <a14:foregroundMark x1="53594" y1="49011" x2="53594" y2="57336"/>
                        <a14:foregroundMark x1="53594" y1="57336" x2="58385" y2="62123"/>
                        <a14:foregroundMark x1="58385" y1="62123" x2="89844" y2="59938"/>
                        <a14:foregroundMark x1="89844" y1="62539" x2="86094" y2="56920"/>
                        <a14:foregroundMark x1="86094" y1="56920" x2="56823" y2="57544"/>
                        <a14:foregroundMark x1="56823" y1="57544" x2="53594" y2="63059"/>
                        <a14:foregroundMark x1="53594" y1="63059" x2="52760" y2="42664"/>
                        <a14:foregroundMark x1="52760" y1="42664" x2="59271" y2="35796"/>
                        <a14:foregroundMark x1="59271" y1="35796" x2="61853" y2="34818"/>
                        <a14:foregroundMark x1="69369" y1="34293" x2="87865" y2="37877"/>
                        <a14:foregroundMark x1="68710" y1="34165" x2="69148" y2="34250"/>
                        <a14:foregroundMark x1="87865" y1="37877" x2="90417" y2="53902"/>
                        <a14:foregroundMark x1="90417" y1="53902" x2="87969" y2="65557"/>
                        <a14:foregroundMark x1="63734" y1="65441" x2="52604" y2="64412"/>
                        <a14:foregroundMark x1="59062" y1="41103" x2="57969" y2="50572"/>
                        <a14:foregroundMark x1="57969" y1="50572" x2="70313" y2="52862"/>
                        <a14:foregroundMark x1="70313" y1="52862" x2="86302" y2="51613"/>
                        <a14:foregroundMark x1="86302" y1="51613" x2="91615" y2="46722"/>
                        <a14:foregroundMark x1="91615" y1="46722" x2="87396" y2="41623"/>
                        <a14:foregroundMark x1="87396" y1="41623" x2="70052" y2="41519"/>
                        <a14:foregroundMark x1="77656" y1="40999" x2="63229" y2="41311"/>
                        <a14:foregroundMark x1="63229" y1="41311" x2="73490" y2="49948"/>
                        <a14:foregroundMark x1="73490" y1="49948" x2="78125" y2="48491"/>
                        <a14:foregroundMark x1="64688" y1="44849" x2="64688" y2="44849"/>
                        <a14:foregroundMark x1="65729" y1="44849" x2="66042" y2="48179"/>
                        <a14:foregroundMark x1="62969" y1="42872" x2="62969" y2="46722"/>
                        <a14:foregroundMark x1="81042" y1="45473" x2="81042" y2="47555"/>
                        <a14:foregroundMark x1="83698" y1="40999" x2="83438" y2="48387"/>
                        <a14:foregroundMark x1="78490" y1="35172" x2="83385" y2="35380"/>
                        <a14:foregroundMark x1="83385" y1="35380" x2="87865" y2="35172"/>
                        <a14:foregroundMark x1="87865" y1="35172" x2="88438" y2="35380"/>
                        <a14:backgroundMark x1="69167" y1="66493" x2="75313" y2="65661"/>
                        <a14:backgroundMark x1="75313" y1="65661" x2="82813" y2="66701"/>
                        <a14:backgroundMark x1="83229" y1="66701" x2="83229" y2="66701"/>
                        <a14:backgroundMark x1="83542" y1="66701" x2="83542" y2="66701"/>
                        <a14:backgroundMark x1="83854" y1="66701" x2="83854" y2="66701"/>
                        <a14:backgroundMark x1="84115" y1="67014" x2="84323" y2="67014"/>
                        <a14:backgroundMark x1="84323" y1="67014" x2="84323" y2="67014"/>
                        <a14:backgroundMark x1="84323" y1="67014" x2="84323" y2="67014"/>
                        <a14:backgroundMark x1="71094" y1="76691" x2="66615" y2="79396"/>
                        <a14:backgroundMark x1="66615" y1="79396" x2="67240" y2="78980"/>
                        <a14:backgroundMark x1="88229" y1="66805" x2="85521" y2="66285"/>
                        <a14:backgroundMark x1="88438" y1="65869" x2="88542" y2="65869"/>
                        <a14:backgroundMark x1="87969" y1="66077" x2="87969" y2="66077"/>
                        <a14:backgroundMark x1="87969" y1="66077" x2="87969" y2="66077"/>
                        <a14:backgroundMark x1="87969" y1="65973" x2="87969" y2="65973"/>
                        <a14:backgroundMark x1="84010" y1="67326" x2="81771" y2="67118"/>
                        <a14:backgroundMark x1="70104" y1="65973" x2="64115" y2="66597"/>
                        <a14:backgroundMark x1="62240" y1="33611" x2="68854" y2="33715"/>
                        <a14:backgroundMark x1="68854" y1="34443" x2="68854" y2="34443"/>
                        <a14:backgroundMark x1="69219" y1="34339" x2="69219" y2="34339"/>
                        <a14:backgroundMark x1="69479" y1="33819" x2="69479" y2="33819"/>
                        <a14:backgroundMark x1="69531" y1="33819" x2="69531" y2="33819"/>
                        <a14:backgroundMark x1="69219" y1="33819" x2="69010" y2="33819"/>
                        <a14:backgroundMark x1="68958" y1="33819" x2="68958" y2="33819"/>
                        <a14:backgroundMark x1="68906" y1="33819" x2="68906" y2="33819"/>
                        <a14:backgroundMark x1="68906" y1="33819" x2="68906" y2="33819"/>
                      </a14:backgroundRemoval>
                    </a14:imgEffect>
                  </a14:imgLayer>
                </a14:imgProps>
              </a:ext>
              <a:ext uri="{28A0092B-C50C-407E-A947-70E740481C1C}">
                <a14:useLocalDpi xmlns:a14="http://schemas.microsoft.com/office/drawing/2010/main" val="0"/>
              </a:ext>
            </a:extLst>
          </a:blip>
          <a:srcRect l="50825" t="33501" r="8005" b="33820"/>
          <a:stretch>
            <a:fillRect/>
          </a:stretch>
        </p:blipFill>
        <p:spPr>
          <a:xfrm>
            <a:off x="9763096" y="5909481"/>
            <a:ext cx="2456199" cy="975815"/>
          </a:xfrm>
          <a:prstGeom prst="rect">
            <a:avLst/>
          </a:prstGeom>
        </p:spPr>
      </p:pic>
      <p:pic>
        <p:nvPicPr>
          <p:cNvPr id="10" name="Picture 9">
            <a:hlinkClick r:id="" action="ppaction://hlinkshowjump?jump=previousslide"/>
            <a:extLst>
              <a:ext uri="{FF2B5EF4-FFF2-40B4-BE49-F238E27FC236}">
                <a16:creationId xmlns:a16="http://schemas.microsoft.com/office/drawing/2014/main" id="{5BD9FCE7-B52D-5991-2F01-AD7C80E89941}"/>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35796" b="65245" l="9427" r="46979">
                        <a14:foregroundMark x1="13125" y1="39022" x2="8698" y2="55047"/>
                        <a14:foregroundMark x1="8698" y1="55047" x2="19271" y2="65245"/>
                        <a14:foregroundMark x1="19271" y1="65245" x2="39896" y2="60666"/>
                        <a14:foregroundMark x1="39896" y1="60666" x2="47448" y2="42872"/>
                        <a14:foregroundMark x1="47448" y1="42872" x2="40365" y2="36108"/>
                        <a14:foregroundMark x1="40365" y1="36108" x2="12083" y2="38606"/>
                        <a14:foregroundMark x1="29792" y1="43704" x2="29792" y2="43704"/>
                        <a14:foregroundMark x1="38385" y1="46722" x2="26042" y2="54214"/>
                        <a14:foregroundMark x1="26042" y1="54214" x2="25677" y2="54943"/>
                        <a14:foregroundMark x1="42500" y1="49324" x2="42500" y2="49324"/>
                        <a14:foregroundMark x1="39479" y1="52758" x2="32604" y2="56296"/>
                        <a14:foregroundMark x1="44219" y1="50260" x2="25885" y2="65245"/>
                        <a14:foregroundMark x1="25885" y1="65245" x2="15313" y2="62123"/>
                        <a14:foregroundMark x1="15313" y1="62123" x2="12344" y2="43600"/>
                        <a14:foregroundMark x1="12344" y1="43600" x2="28906" y2="38606"/>
                        <a14:foregroundMark x1="13125" y1="47659" x2="9479" y2="40271"/>
                        <a14:foregroundMark x1="12500" y1="39854" x2="12292" y2="58897"/>
                        <a14:foregroundMark x1="12292" y1="58897" x2="21094" y2="61915"/>
                        <a14:foregroundMark x1="21094" y1="61915" x2="43490" y2="58585"/>
                        <a14:foregroundMark x1="43490" y1="58585" x2="46979" y2="44953"/>
                        <a14:foregroundMark x1="46979" y1="44953" x2="45313" y2="39438"/>
                      </a14:backgroundRemoval>
                    </a14:imgEffect>
                  </a14:imgLayer>
                </a14:imgProps>
              </a:ext>
              <a:ext uri="{28A0092B-C50C-407E-A947-70E740481C1C}">
                <a14:useLocalDpi xmlns:a14="http://schemas.microsoft.com/office/drawing/2010/main" val="0"/>
              </a:ext>
            </a:extLst>
          </a:blip>
          <a:srcRect l="8823" t="33989" r="52308" b="34547"/>
          <a:stretch>
            <a:fillRect/>
          </a:stretch>
        </p:blipFill>
        <p:spPr>
          <a:xfrm>
            <a:off x="-27295" y="5901077"/>
            <a:ext cx="2456199" cy="995184"/>
          </a:xfrm>
          <a:prstGeom prst="rect">
            <a:avLst/>
          </a:prstGeom>
        </p:spPr>
      </p:pic>
    </p:spTree>
    <p:extLst>
      <p:ext uri="{BB962C8B-B14F-4D97-AF65-F5344CB8AC3E}">
        <p14:creationId xmlns:p14="http://schemas.microsoft.com/office/powerpoint/2010/main" val="3151721340"/>
      </p:ext>
    </p:extLst>
  </p:cSld>
  <p:clrMapOvr>
    <a:masterClrMapping/>
  </p:clrMapOvr>
  <p:transition advClick="0">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F022-C261-7469-1EE6-94E77B7B3B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2B92DBC-8D88-FB4F-AE86-1C7369CAC9BC}"/>
              </a:ext>
            </a:extLst>
          </p:cNvPr>
          <p:cNvPicPr>
            <a:picLocks noChangeAspect="1"/>
          </p:cNvPicPr>
          <p:nvPr/>
        </p:nvPicPr>
        <p:blipFill>
          <a:blip r:embed="rId2">
            <a:biLevel thresh="75000"/>
            <a:extLst>
              <a:ext uri="{BEBA8EAE-BF5A-486C-A8C5-ECC9F3942E4B}">
                <a14:imgProps xmlns:a14="http://schemas.microsoft.com/office/drawing/2010/main">
                  <a14:imgLayer r:embed="rId3">
                    <a14:imgEffect>
                      <a14:backgroundRemoval t="10000" b="90000" l="10000" r="90000"/>
                    </a14:imgEffect>
                    <a14:imgEffect>
                      <a14:artisticPhotocopy/>
                    </a14:imgEffect>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0" y="4148919"/>
            <a:ext cx="2709081" cy="2709081"/>
          </a:xfrm>
          <a:prstGeom prst="rect">
            <a:avLst/>
          </a:prstGeom>
        </p:spPr>
      </p:pic>
      <p:pic>
        <p:nvPicPr>
          <p:cNvPr id="9" name="Picture 8">
            <a:hlinkClick r:id="" action="ppaction://hlinkshowjump?jump=firstslide"/>
            <a:extLst>
              <a:ext uri="{FF2B5EF4-FFF2-40B4-BE49-F238E27FC236}">
                <a16:creationId xmlns:a16="http://schemas.microsoft.com/office/drawing/2014/main" id="{2310F034-8EED-D363-71A2-4E220BF88C5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9482918" y="4148918"/>
            <a:ext cx="2709082" cy="2709082"/>
          </a:xfrm>
          <a:prstGeom prst="rect">
            <a:avLst/>
          </a:prstGeom>
        </p:spPr>
      </p:pic>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B00CE652-639D-8D76-2E67-982F118FAE24}"/>
                  </a:ext>
                </a:extLst>
              </p14:cNvPr>
              <p14:cNvContentPartPr/>
              <p14:nvPr/>
            </p14:nvContentPartPr>
            <p14:xfrm>
              <a:off x="965916" y="4760896"/>
              <a:ext cx="31680" cy="203400"/>
            </p14:xfrm>
          </p:contentPart>
        </mc:Choice>
        <mc:Fallback>
          <p:pic>
            <p:nvPicPr>
              <p:cNvPr id="11" name="Ink 10">
                <a:extLst>
                  <a:ext uri="{FF2B5EF4-FFF2-40B4-BE49-F238E27FC236}">
                    <a16:creationId xmlns:a16="http://schemas.microsoft.com/office/drawing/2014/main" id="{B00CE652-639D-8D76-2E67-982F118FAE24}"/>
                  </a:ext>
                </a:extLst>
              </p:cNvPr>
              <p:cNvPicPr/>
              <p:nvPr/>
            </p:nvPicPr>
            <p:blipFill>
              <a:blip r:embed="rId7"/>
              <a:stretch>
                <a:fillRect/>
              </a:stretch>
            </p:blipFill>
            <p:spPr>
              <a:xfrm>
                <a:off x="947916" y="4742896"/>
                <a:ext cx="673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3C9D39F6-1D8B-5E46-7E2E-AB38D721E6D6}"/>
                  </a:ext>
                </a:extLst>
              </p14:cNvPr>
              <p14:cNvContentPartPr/>
              <p14:nvPr/>
            </p14:nvContentPartPr>
            <p14:xfrm>
              <a:off x="556596" y="4747576"/>
              <a:ext cx="426960" cy="944280"/>
            </p14:xfrm>
          </p:contentPart>
        </mc:Choice>
        <mc:Fallback>
          <p:pic>
            <p:nvPicPr>
              <p:cNvPr id="12" name="Ink 11">
                <a:extLst>
                  <a:ext uri="{FF2B5EF4-FFF2-40B4-BE49-F238E27FC236}">
                    <a16:creationId xmlns:a16="http://schemas.microsoft.com/office/drawing/2014/main" id="{3C9D39F6-1D8B-5E46-7E2E-AB38D721E6D6}"/>
                  </a:ext>
                </a:extLst>
              </p:cNvPr>
              <p:cNvPicPr/>
              <p:nvPr/>
            </p:nvPicPr>
            <p:blipFill>
              <a:blip r:embed="rId9"/>
              <a:stretch>
                <a:fillRect/>
              </a:stretch>
            </p:blipFill>
            <p:spPr>
              <a:xfrm>
                <a:off x="493596" y="4684576"/>
                <a:ext cx="552600" cy="1069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983473BD-956C-4265-1193-D4AE8B08CADF}"/>
                  </a:ext>
                </a:extLst>
              </p14:cNvPr>
              <p14:cNvContentPartPr/>
              <p14:nvPr/>
            </p14:nvContentPartPr>
            <p14:xfrm>
              <a:off x="1042596" y="5191456"/>
              <a:ext cx="21240" cy="26640"/>
            </p14:xfrm>
          </p:contentPart>
        </mc:Choice>
        <mc:Fallback>
          <p:pic>
            <p:nvPicPr>
              <p:cNvPr id="15" name="Ink 14">
                <a:extLst>
                  <a:ext uri="{FF2B5EF4-FFF2-40B4-BE49-F238E27FC236}">
                    <a16:creationId xmlns:a16="http://schemas.microsoft.com/office/drawing/2014/main" id="{983473BD-956C-4265-1193-D4AE8B08CADF}"/>
                  </a:ext>
                </a:extLst>
              </p:cNvPr>
              <p:cNvPicPr/>
              <p:nvPr/>
            </p:nvPicPr>
            <p:blipFill>
              <a:blip r:embed="rId11"/>
              <a:stretch>
                <a:fillRect/>
              </a:stretch>
            </p:blipFill>
            <p:spPr>
              <a:xfrm>
                <a:off x="979596" y="5128456"/>
                <a:ext cx="1468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69F73D02-5ACF-A3D7-8FAE-4C6CBEE7D8C9}"/>
                  </a:ext>
                </a:extLst>
              </p14:cNvPr>
              <p14:cNvContentPartPr/>
              <p14:nvPr/>
            </p14:nvContentPartPr>
            <p14:xfrm>
              <a:off x="1087956" y="5236816"/>
              <a:ext cx="42840" cy="360"/>
            </p14:xfrm>
          </p:contentPart>
        </mc:Choice>
        <mc:Fallback>
          <p:pic>
            <p:nvPicPr>
              <p:cNvPr id="16" name="Ink 15">
                <a:extLst>
                  <a:ext uri="{FF2B5EF4-FFF2-40B4-BE49-F238E27FC236}">
                    <a16:creationId xmlns:a16="http://schemas.microsoft.com/office/drawing/2014/main" id="{69F73D02-5ACF-A3D7-8FAE-4C6CBEE7D8C9}"/>
                  </a:ext>
                </a:extLst>
              </p:cNvPr>
              <p:cNvPicPr/>
              <p:nvPr/>
            </p:nvPicPr>
            <p:blipFill>
              <a:blip r:embed="rId13"/>
              <a:stretch>
                <a:fillRect/>
              </a:stretch>
            </p:blipFill>
            <p:spPr>
              <a:xfrm>
                <a:off x="1024956" y="5173816"/>
                <a:ext cx="16848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934CEDFF-07B2-630A-7EAE-2D38BFC27C49}"/>
                  </a:ext>
                </a:extLst>
              </p14:cNvPr>
              <p14:cNvContentPartPr/>
              <p14:nvPr/>
            </p14:nvContentPartPr>
            <p14:xfrm>
              <a:off x="1193796" y="5236816"/>
              <a:ext cx="573120" cy="360"/>
            </p14:xfrm>
          </p:contentPart>
        </mc:Choice>
        <mc:Fallback>
          <p:pic>
            <p:nvPicPr>
              <p:cNvPr id="17" name="Ink 16">
                <a:extLst>
                  <a:ext uri="{FF2B5EF4-FFF2-40B4-BE49-F238E27FC236}">
                    <a16:creationId xmlns:a16="http://schemas.microsoft.com/office/drawing/2014/main" id="{934CEDFF-07B2-630A-7EAE-2D38BFC27C49}"/>
                  </a:ext>
                </a:extLst>
              </p:cNvPr>
              <p:cNvPicPr/>
              <p:nvPr/>
            </p:nvPicPr>
            <p:blipFill>
              <a:blip r:embed="rId15"/>
              <a:stretch>
                <a:fillRect/>
              </a:stretch>
            </p:blipFill>
            <p:spPr>
              <a:xfrm>
                <a:off x="1131156" y="5173816"/>
                <a:ext cx="698760" cy="126000"/>
              </a:xfrm>
              <a:prstGeom prst="rect">
                <a:avLst/>
              </a:prstGeom>
            </p:spPr>
          </p:pic>
        </mc:Fallback>
      </mc:AlternateContent>
      <p:grpSp>
        <p:nvGrpSpPr>
          <p:cNvPr id="31" name="Group 30">
            <a:extLst>
              <a:ext uri="{FF2B5EF4-FFF2-40B4-BE49-F238E27FC236}">
                <a16:creationId xmlns:a16="http://schemas.microsoft.com/office/drawing/2014/main" id="{991467BD-CE12-975B-A42E-14A5C5BA4615}"/>
              </a:ext>
            </a:extLst>
          </p:cNvPr>
          <p:cNvGrpSpPr/>
          <p:nvPr/>
        </p:nvGrpSpPr>
        <p:grpSpPr>
          <a:xfrm>
            <a:off x="1873836" y="5267056"/>
            <a:ext cx="326520" cy="845640"/>
            <a:chOff x="1873836" y="5267056"/>
            <a:chExt cx="326520" cy="845640"/>
          </a:xfrm>
        </p:grpSpPr>
        <mc:AlternateContent xmlns:mc="http://schemas.openxmlformats.org/markup-compatibility/2006">
          <mc:Choice xmlns:p14="http://schemas.microsoft.com/office/powerpoint/2010/main" Requires="p14">
            <p:contentPart p14:bwMode="auto" r:id="rId16">
              <p14:nvContentPartPr>
                <p14:cNvPr id="26" name="Ink 25">
                  <a:extLst>
                    <a:ext uri="{FF2B5EF4-FFF2-40B4-BE49-F238E27FC236}">
                      <a16:creationId xmlns:a16="http://schemas.microsoft.com/office/drawing/2014/main" id="{FF5FA5F8-1216-998E-081E-63962E94B483}"/>
                    </a:ext>
                  </a:extLst>
                </p14:cNvPr>
                <p14:cNvContentPartPr/>
                <p14:nvPr/>
              </p14:nvContentPartPr>
              <p14:xfrm>
                <a:off x="1873836" y="5267056"/>
                <a:ext cx="136080" cy="102240"/>
              </p14:xfrm>
            </p:contentPart>
          </mc:Choice>
          <mc:Fallback>
            <p:pic>
              <p:nvPicPr>
                <p:cNvPr id="26" name="Ink 25">
                  <a:extLst>
                    <a:ext uri="{FF2B5EF4-FFF2-40B4-BE49-F238E27FC236}">
                      <a16:creationId xmlns:a16="http://schemas.microsoft.com/office/drawing/2014/main" id="{FF5FA5F8-1216-998E-081E-63962E94B483}"/>
                    </a:ext>
                  </a:extLst>
                </p:cNvPr>
                <p:cNvPicPr/>
                <p:nvPr/>
              </p:nvPicPr>
              <p:blipFill>
                <a:blip r:embed="rId17"/>
                <a:stretch>
                  <a:fillRect/>
                </a:stretch>
              </p:blipFill>
              <p:spPr>
                <a:xfrm>
                  <a:off x="1811196" y="5204056"/>
                  <a:ext cx="261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7" name="Ink 26">
                  <a:extLst>
                    <a:ext uri="{FF2B5EF4-FFF2-40B4-BE49-F238E27FC236}">
                      <a16:creationId xmlns:a16="http://schemas.microsoft.com/office/drawing/2014/main" id="{0A342969-1FEA-3398-F0B8-31A4BC633223}"/>
                    </a:ext>
                  </a:extLst>
                </p14:cNvPr>
                <p14:cNvContentPartPr/>
                <p14:nvPr/>
              </p14:nvContentPartPr>
              <p14:xfrm>
                <a:off x="2055276" y="5387656"/>
                <a:ext cx="115920" cy="199800"/>
              </p14:xfrm>
            </p:contentPart>
          </mc:Choice>
          <mc:Fallback>
            <p:pic>
              <p:nvPicPr>
                <p:cNvPr id="27" name="Ink 26">
                  <a:extLst>
                    <a:ext uri="{FF2B5EF4-FFF2-40B4-BE49-F238E27FC236}">
                      <a16:creationId xmlns:a16="http://schemas.microsoft.com/office/drawing/2014/main" id="{0A342969-1FEA-3398-F0B8-31A4BC633223}"/>
                    </a:ext>
                  </a:extLst>
                </p:cNvPr>
                <p:cNvPicPr/>
                <p:nvPr/>
              </p:nvPicPr>
              <p:blipFill>
                <a:blip r:embed="rId19"/>
                <a:stretch>
                  <a:fillRect/>
                </a:stretch>
              </p:blipFill>
              <p:spPr>
                <a:xfrm>
                  <a:off x="1992636" y="5325016"/>
                  <a:ext cx="24156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8" name="Ink 27">
                  <a:extLst>
                    <a:ext uri="{FF2B5EF4-FFF2-40B4-BE49-F238E27FC236}">
                      <a16:creationId xmlns:a16="http://schemas.microsoft.com/office/drawing/2014/main" id="{EFC41114-98C1-E7E1-D05B-5C48A90F92D8}"/>
                    </a:ext>
                  </a:extLst>
                </p14:cNvPr>
                <p14:cNvContentPartPr/>
                <p14:nvPr/>
              </p14:nvContentPartPr>
              <p14:xfrm>
                <a:off x="2182356" y="5606896"/>
                <a:ext cx="18000" cy="222840"/>
              </p14:xfrm>
            </p:contentPart>
          </mc:Choice>
          <mc:Fallback>
            <p:pic>
              <p:nvPicPr>
                <p:cNvPr id="28" name="Ink 27">
                  <a:extLst>
                    <a:ext uri="{FF2B5EF4-FFF2-40B4-BE49-F238E27FC236}">
                      <a16:creationId xmlns:a16="http://schemas.microsoft.com/office/drawing/2014/main" id="{EFC41114-98C1-E7E1-D05B-5C48A90F92D8}"/>
                    </a:ext>
                  </a:extLst>
                </p:cNvPr>
                <p:cNvPicPr/>
                <p:nvPr/>
              </p:nvPicPr>
              <p:blipFill>
                <a:blip r:embed="rId21"/>
                <a:stretch>
                  <a:fillRect/>
                </a:stretch>
              </p:blipFill>
              <p:spPr>
                <a:xfrm>
                  <a:off x="2119716" y="5543896"/>
                  <a:ext cx="14364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DEAA328C-81E1-A032-E0C8-CCADCC2BF1D8}"/>
                    </a:ext>
                  </a:extLst>
                </p14:cNvPr>
                <p14:cNvContentPartPr/>
                <p14:nvPr/>
              </p14:nvContentPartPr>
              <p14:xfrm>
                <a:off x="2088396" y="5848816"/>
                <a:ext cx="110880" cy="263880"/>
              </p14:xfrm>
            </p:contentPart>
          </mc:Choice>
          <mc:Fallback>
            <p:pic>
              <p:nvPicPr>
                <p:cNvPr id="29" name="Ink 28">
                  <a:extLst>
                    <a:ext uri="{FF2B5EF4-FFF2-40B4-BE49-F238E27FC236}">
                      <a16:creationId xmlns:a16="http://schemas.microsoft.com/office/drawing/2014/main" id="{DEAA328C-81E1-A032-E0C8-CCADCC2BF1D8}"/>
                    </a:ext>
                  </a:extLst>
                </p:cNvPr>
                <p:cNvPicPr/>
                <p:nvPr/>
              </p:nvPicPr>
              <p:blipFill>
                <a:blip r:embed="rId23"/>
                <a:stretch>
                  <a:fillRect/>
                </a:stretch>
              </p:blipFill>
              <p:spPr>
                <a:xfrm>
                  <a:off x="2025396" y="5786176"/>
                  <a:ext cx="236520" cy="389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D238749A-E99A-3F06-45B2-F86B526B2306}"/>
                  </a:ext>
                </a:extLst>
              </p14:cNvPr>
              <p14:cNvContentPartPr/>
              <p14:nvPr/>
            </p14:nvContentPartPr>
            <p14:xfrm>
              <a:off x="1406916" y="6166336"/>
              <a:ext cx="671400" cy="183600"/>
            </p14:xfrm>
          </p:contentPart>
        </mc:Choice>
        <mc:Fallback>
          <p:pic>
            <p:nvPicPr>
              <p:cNvPr id="30" name="Ink 29">
                <a:extLst>
                  <a:ext uri="{FF2B5EF4-FFF2-40B4-BE49-F238E27FC236}">
                    <a16:creationId xmlns:a16="http://schemas.microsoft.com/office/drawing/2014/main" id="{D238749A-E99A-3F06-45B2-F86B526B2306}"/>
                  </a:ext>
                </a:extLst>
              </p:cNvPr>
              <p:cNvPicPr/>
              <p:nvPr/>
            </p:nvPicPr>
            <p:blipFill>
              <a:blip r:embed="rId25"/>
              <a:stretch>
                <a:fillRect/>
              </a:stretch>
            </p:blipFill>
            <p:spPr>
              <a:xfrm>
                <a:off x="1343916" y="6103336"/>
                <a:ext cx="797040" cy="309240"/>
              </a:xfrm>
              <a:prstGeom prst="rect">
                <a:avLst/>
              </a:prstGeom>
            </p:spPr>
          </p:pic>
        </mc:Fallback>
      </mc:AlternateContent>
      <p:sp>
        <p:nvSpPr>
          <p:cNvPr id="32" name="Rectangle: Rounded Corners 31">
            <a:hlinkClick r:id="" action="ppaction://hlinkshowjump?jump=previousslide"/>
            <a:extLst>
              <a:ext uri="{FF2B5EF4-FFF2-40B4-BE49-F238E27FC236}">
                <a16:creationId xmlns:a16="http://schemas.microsoft.com/office/drawing/2014/main" id="{B4375E0F-97EC-F05F-62AE-1A76C7802B9C}"/>
              </a:ext>
            </a:extLst>
          </p:cNvPr>
          <p:cNvSpPr/>
          <p:nvPr/>
        </p:nvSpPr>
        <p:spPr>
          <a:xfrm>
            <a:off x="0" y="4041422"/>
            <a:ext cx="2743200" cy="2816578"/>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48133070"/>
      </p:ext>
    </p:extLst>
  </p:cSld>
  <p:clrMapOvr>
    <a:masterClrMapping/>
  </p:clrMapOvr>
  <p:transition advClick="0">
    <p:wheel spokes="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2511</Words>
  <Application>Microsoft Office PowerPoint</Application>
  <PresentationFormat>Widescreen</PresentationFormat>
  <Paragraphs>70</Paragraphs>
  <Slides>9</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IRANSans</vt:lpstr>
      <vt:lpstr>Arial</vt:lpstr>
      <vt:lpstr>Calibri</vt:lpstr>
      <vt:lpstr>IRDavat</vt:lpstr>
      <vt:lpstr>Calibri Light</vt:lpstr>
      <vt:lpstr>Office Theme</vt:lpstr>
      <vt:lpstr>تحقیق درباره ی سعدی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Look Luck</dc:creator>
  <cp:lastModifiedBy>Look Luck</cp:lastModifiedBy>
  <cp:revision>1</cp:revision>
  <dcterms:created xsi:type="dcterms:W3CDTF">2026-10-24T15:12:17Z</dcterms:created>
  <dcterms:modified xsi:type="dcterms:W3CDTF">2026-10-24T15:58:20Z</dcterms:modified>
</cp:coreProperties>
</file>